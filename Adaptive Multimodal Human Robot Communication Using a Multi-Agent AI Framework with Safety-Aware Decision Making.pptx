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media/image20.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embeddedFontLst>
    <p:embeddedFont>
      <p:font typeface="Marcellus" panose="020E0602050203020307" pitchFamily="34" charset="0"/>
      <p:regular r:id="rId18"/>
    </p:embeddedFont>
    <p:embeddedFont>
      <p:font typeface="Marcellus" panose="020E0602050203020307" pitchFamily="34" charset="-122"/>
      <p:regular r:id="rId19"/>
    </p:embeddedFont>
    <p:embeddedFont>
      <p:font typeface="Marcellus" panose="020E0602050203020307" pitchFamily="34" charset="-120"/>
      <p:regular r:id="rId20"/>
    </p:embeddedFont>
    <p:embeddedFont>
      <p:font typeface="Montserrat" pitchFamily="34" charset="0"/>
      <p:regular r:id="rId21"/>
    </p:embeddedFont>
    <p:embeddedFont>
      <p:font typeface="Montserrat" pitchFamily="34" charset="-122"/>
      <p:regular r:id="rId22"/>
    </p:embeddedFont>
    <p:embeddedFont>
      <p:font typeface="Montserrat" pitchFamily="34" charset="-120"/>
      <p:regular r:id="rId23"/>
    </p:embeddedFont>
    <p:embeddedFont>
      <p:font typeface="Montserrat Bold" pitchFamily="34" charset="0"/>
      <p:bold r:id="rId24"/>
    </p:embeddedFont>
    <p:embeddedFont>
      <p:font typeface="Montserrat Bold" pitchFamily="34" charset="-122"/>
      <p:bold r:id="rId25"/>
    </p:embeddedFont>
    <p:embeddedFont>
      <p:font typeface="Montserrat Bold" pitchFamily="34" charset="-120"/>
      <p:bold r:id="rId26"/>
    </p:embeddedFont>
    <p:embeddedFont>
      <p:font typeface="Calibri" panose="020F0502020204030204" charset="0"/>
      <p:regular r:id="rId27"/>
      <p:bold r:id="rId28"/>
      <p:italic r:id="rId29"/>
      <p:boldItalic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13.fntdata"/><Relationship Id="rId3" Type="http://schemas.openxmlformats.org/officeDocument/2006/relationships/slide" Target="slides/slide1.xml"/><Relationship Id="rId29" Type="http://schemas.openxmlformats.org/officeDocument/2006/relationships/font" Target="fonts/font12.fntdata"/><Relationship Id="rId28" Type="http://schemas.openxmlformats.org/officeDocument/2006/relationships/font" Target="fonts/font11.fntdata"/><Relationship Id="rId27" Type="http://schemas.openxmlformats.org/officeDocument/2006/relationships/font" Target="fonts/font10.fntdata"/><Relationship Id="rId26" Type="http://schemas.openxmlformats.org/officeDocument/2006/relationships/font" Target="fonts/font9.fntdata"/><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p:spPr>
      </p:sp>
      <p:sp>
        <p:nvSpPr>
          <p:cNvPr id="3" name="Shape 1"/>
          <p:cNvSpPr/>
          <p:nvPr/>
        </p:nvSpPr>
        <p:spPr>
          <a:xfrm>
            <a:off x="0" y="0"/>
            <a:ext cx="9144000" cy="5143500"/>
          </a:xfrm>
          <a:prstGeom prst="rect">
            <a:avLst/>
          </a:prstGeom>
          <a:solidFill>
            <a:srgbClr val="FFFFF4">
              <a:alpha val="95000"/>
            </a:srgbClr>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6" Type="http://schemas.openxmlformats.org/officeDocument/2006/relationships/notesSlide" Target="../notesSlides/notesSlide4.xml"/><Relationship Id="rId15" Type="http://schemas.openxmlformats.org/officeDocument/2006/relationships/slideLayout" Target="../slideLayouts/slideLayout2.xml"/><Relationship Id="rId14" Type="http://schemas.openxmlformats.org/officeDocument/2006/relationships/image" Target="../media/image2.png"/><Relationship Id="rId13" Type="http://schemas.openxmlformats.org/officeDocument/2006/relationships/image" Target="../media/image17.png"/><Relationship Id="rId12" Type="http://schemas.openxmlformats.org/officeDocument/2006/relationships/image" Target="../media/image16.svg"/><Relationship Id="rId11" Type="http://schemas.openxmlformats.org/officeDocument/2006/relationships/image" Target="../media/image15.png"/><Relationship Id="rId10" Type="http://schemas.openxmlformats.org/officeDocument/2006/relationships/image" Target="../media/image14.sv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20.svg"/><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21.png"/></Relationships>
</file>

<file path=ppt/slides/_rels/slide9.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29.svg"/><Relationship Id="rId7" Type="http://schemas.openxmlformats.org/officeDocument/2006/relationships/image" Target="../media/image28.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 Id="rId3" Type="http://schemas.openxmlformats.org/officeDocument/2006/relationships/image" Target="../media/image24.png"/><Relationship Id="rId2" Type="http://schemas.openxmlformats.org/officeDocument/2006/relationships/image" Target="../media/image23.svg"/><Relationship Id="rId11" Type="http://schemas.openxmlformats.org/officeDocument/2006/relationships/notesSlide" Target="../notesSlides/notesSlide9.xml"/><Relationship Id="rId10" Type="http://schemas.openxmlformats.org/officeDocument/2006/relationships/slideLayout" Target="../slideLayouts/slideLayout2.xml"/><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0.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969913"/>
            <a:ext cx="8151763" cy="2119313"/>
          </a:xfrm>
          <a:prstGeom prst="rect">
            <a:avLst/>
          </a:prstGeom>
          <a:noFill/>
        </p:spPr>
        <p:txBody>
          <a:bodyPr wrap="square" lIns="0" tIns="0" rIns="0" bIns="0" rtlCol="0" anchor="t">
            <a:normAutofit/>
          </a:bodyPr>
          <a:lstStyle/>
          <a:p>
            <a:pPr marL="0" indent="0" algn="l">
              <a:lnSpc>
                <a:spcPct val="108000"/>
              </a:lnSpc>
              <a:buNone/>
            </a:pPr>
            <a:r>
              <a:rPr lang="en-US" sz="3200" kern="0" spc="-32" dirty="0">
                <a:solidFill>
                  <a:srgbClr val="532418"/>
                </a:solidFill>
                <a:latin typeface="Marcellus" panose="020E0602050203020307" pitchFamily="34" charset="0"/>
                <a:ea typeface="Marcellus" panose="020E0602050203020307" pitchFamily="34" charset="-122"/>
                <a:cs typeface="Marcellus" panose="020E0602050203020307" pitchFamily="34" charset="-120"/>
              </a:rPr>
              <a:t>Adaptive Multimodal Human-Robot Communication Using a Multi-Agent AI Framework with Safety-Aware Decision Making</a:t>
            </a:r>
            <a:endParaRPr lang="en-US" sz="3200" dirty="0"/>
          </a:p>
        </p:txBody>
      </p:sp>
      <p:sp>
        <p:nvSpPr>
          <p:cNvPr id="3" name="Text 1"/>
          <p:cNvSpPr/>
          <p:nvPr/>
        </p:nvSpPr>
        <p:spPr>
          <a:xfrm>
            <a:off x="496119" y="3301826"/>
            <a:ext cx="8151763" cy="871686"/>
          </a:xfrm>
          <a:prstGeom prst="rect">
            <a:avLst/>
          </a:prstGeom>
          <a:noFill/>
        </p:spPr>
        <p:txBody>
          <a:bodyPr wrap="square" lIns="0" tIns="0" rIns="0" bIns="0" rtlCol="0" anchor="t"/>
          <a:lstStyle/>
          <a:p>
            <a:pPr marL="0" indent="0" algn="l">
              <a:lnSpc>
                <a:spcPct val="108000"/>
              </a:lnSpc>
              <a:spcAft>
                <a:spcPts val="1250"/>
              </a:spcAft>
              <a:buNone/>
            </a:pPr>
            <a:r>
              <a:rPr lang="en-US" sz="1100" dirty="0">
                <a:solidFill>
                  <a:srgbClr val="67534F"/>
                </a:solidFill>
                <a:latin typeface="Montserrat" pitchFamily="34" charset="0"/>
                <a:ea typeface="Montserrat" pitchFamily="34" charset="-122"/>
                <a:cs typeface="Montserrat" pitchFamily="34" charset="-120"/>
              </a:rPr>
              <a:t>Dhivya S K                                  24BRS1111</a:t>
            </a:r>
            <a:endParaRPr lang="en-US" sz="1100" dirty="0"/>
          </a:p>
          <a:p>
            <a:pPr marL="0" indent="0" algn="l">
              <a:lnSpc>
                <a:spcPct val="108000"/>
              </a:lnSpc>
              <a:spcAft>
                <a:spcPts val="1250"/>
              </a:spcAft>
              <a:buNone/>
            </a:pPr>
            <a:r>
              <a:rPr lang="en-US" sz="1100" dirty="0">
                <a:solidFill>
                  <a:srgbClr val="67534F"/>
                </a:solidFill>
                <a:latin typeface="Montserrat" pitchFamily="34" charset="0"/>
                <a:ea typeface="Montserrat" pitchFamily="34" charset="-122"/>
                <a:cs typeface="Montserrat" pitchFamily="34" charset="-120"/>
              </a:rPr>
              <a:t>Sharmista Neravati                  24BRS1145</a:t>
            </a:r>
            <a:endParaRPr lang="en-US" sz="1100" dirty="0"/>
          </a:p>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Jithesh Chowdary Palukuri   24BRS1073 </a:t>
            </a:r>
            <a:endParaRPr lang="en-US" sz="1100" dirty="0"/>
          </a:p>
        </p:txBody>
      </p:sp>
      <p:pic>
        <p:nvPicPr>
          <p:cNvPr id="6" name="Picture 5" descr="Screenshot 2026-08-05 192041"/>
          <p:cNvPicPr>
            <a:picLocks noChangeAspect="1"/>
          </p:cNvPicPr>
          <p:nvPr/>
        </p:nvPicPr>
        <p:blipFill>
          <a:blip r:embed="rId1"/>
          <a:stretch>
            <a:fillRect/>
          </a:stretch>
        </p:blipFill>
        <p:spPr>
          <a:xfrm>
            <a:off x="7465060" y="4861560"/>
            <a:ext cx="1623060" cy="2819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914623"/>
            <a:ext cx="8151763" cy="1059656"/>
          </a:xfrm>
          <a:prstGeom prst="rect">
            <a:avLst/>
          </a:prstGeom>
          <a:noFill/>
        </p:spPr>
        <p:txBody>
          <a:bodyPr wrap="square" lIns="0" tIns="0" rIns="0" bIns="0" rtlCol="0" anchor="t">
            <a:normAutofit/>
          </a:bodyPr>
          <a:lstStyle/>
          <a:p>
            <a:pPr marL="0" indent="0" algn="l">
              <a:lnSpc>
                <a:spcPct val="108000"/>
              </a:lnSpc>
              <a:buNone/>
            </a:pPr>
            <a:r>
              <a:rPr lang="en-US" sz="3200" kern="0" spc="-32" dirty="0">
                <a:solidFill>
                  <a:srgbClr val="532418"/>
                </a:solidFill>
                <a:latin typeface="Marcellus" panose="020E0602050203020307" pitchFamily="34" charset="0"/>
                <a:ea typeface="Marcellus" panose="020E0602050203020307" pitchFamily="34" charset="-122"/>
                <a:cs typeface="Marcellus" panose="020E0602050203020307" pitchFamily="34" charset="-120"/>
              </a:rPr>
              <a:t>The Challenge: Why Current HRI Systems Fall Short</a:t>
            </a:r>
            <a:endParaRPr lang="en-US" sz="320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186880"/>
            <a:ext cx="2622724" cy="2041996"/>
          </a:xfrm>
          <a:prstGeom prst="rect">
            <a:avLst/>
          </a:prstGeom>
        </p:spPr>
      </p:pic>
      <p:sp>
        <p:nvSpPr>
          <p:cNvPr id="4" name="Text 1"/>
          <p:cNvSpPr/>
          <p:nvPr/>
        </p:nvSpPr>
        <p:spPr>
          <a:xfrm>
            <a:off x="733127" y="2347689"/>
            <a:ext cx="2224906" cy="529828"/>
          </a:xfrm>
          <a:prstGeom prst="rect">
            <a:avLst/>
          </a:prstGeom>
          <a:noFill/>
        </p:spPr>
        <p:txBody>
          <a:bodyPr wrap="square" lIns="0" tIns="0" rIns="0" bIns="0" rtlCol="0" anchor="t">
            <a:normAutofit/>
          </a:bodyPr>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Single-Modal Limitations</a:t>
            </a:r>
            <a:endParaRPr lang="en-US" sz="1600" dirty="0"/>
          </a:p>
        </p:txBody>
      </p:sp>
      <p:sp>
        <p:nvSpPr>
          <p:cNvPr id="5" name="Text 2"/>
          <p:cNvSpPr/>
          <p:nvPr/>
        </p:nvSpPr>
        <p:spPr>
          <a:xfrm>
            <a:off x="733127" y="2962573"/>
            <a:ext cx="2224906" cy="1105495"/>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Most robots rely on speech-only or task-specific architectures, making them brittle in real-world conditions where noise and ambiguity are unavoidable.</a:t>
            </a:r>
            <a:endParaRPr lang="en-US" sz="1100" dirty="0"/>
          </a:p>
        </p:txBody>
      </p:sp>
      <p:pic>
        <p:nvPicPr>
          <p:cNvPr id="6"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60601" y="2186880"/>
            <a:ext cx="2622724" cy="2041996"/>
          </a:xfrm>
          <a:prstGeom prst="rect">
            <a:avLst/>
          </a:prstGeom>
        </p:spPr>
      </p:pic>
      <p:sp>
        <p:nvSpPr>
          <p:cNvPr id="7" name="Text 3"/>
          <p:cNvSpPr/>
          <p:nvPr/>
        </p:nvSpPr>
        <p:spPr>
          <a:xfrm>
            <a:off x="3497610" y="2347689"/>
            <a:ext cx="2224906"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Perception Failures</a:t>
            </a:r>
            <a:endParaRPr lang="en-US" sz="1600" dirty="0"/>
          </a:p>
        </p:txBody>
      </p:sp>
      <p:sp>
        <p:nvSpPr>
          <p:cNvPr id="8" name="Text 4"/>
          <p:cNvSpPr/>
          <p:nvPr/>
        </p:nvSpPr>
        <p:spPr>
          <a:xfrm>
            <a:off x="3497610" y="2697659"/>
            <a:ext cx="2224906" cy="1105495"/>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Noisy environments, speech ambiguity, and occluded objects cause frequent command misinterpretation and execution failures in deployed systems.</a:t>
            </a:r>
            <a:endParaRPr lang="en-US" sz="1100" dirty="0"/>
          </a:p>
        </p:txBody>
      </p:sp>
      <p:pic>
        <p:nvPicPr>
          <p:cNvPr id="9"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25083" y="2186880"/>
            <a:ext cx="2622724" cy="2041996"/>
          </a:xfrm>
          <a:prstGeom prst="rect">
            <a:avLst/>
          </a:prstGeom>
        </p:spPr>
      </p:pic>
      <p:sp>
        <p:nvSpPr>
          <p:cNvPr id="10" name="Text 5"/>
          <p:cNvSpPr/>
          <p:nvPr/>
        </p:nvSpPr>
        <p:spPr>
          <a:xfrm>
            <a:off x="6262092" y="2347689"/>
            <a:ext cx="2224906"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Safety Blindspots</a:t>
            </a:r>
            <a:endParaRPr lang="en-US" sz="1600" dirty="0"/>
          </a:p>
        </p:txBody>
      </p:sp>
      <p:sp>
        <p:nvSpPr>
          <p:cNvPr id="11" name="Text 6"/>
          <p:cNvSpPr/>
          <p:nvPr/>
        </p:nvSpPr>
        <p:spPr>
          <a:xfrm>
            <a:off x="6262092" y="2697659"/>
            <a:ext cx="2224906" cy="1105495"/>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Existing systems execute commands without verifying environmental safety—creating real risks of collisions and accidents in human-robot proximity.</a:t>
            </a:r>
            <a:endParaRPr lang="en-US" sz="1100" dirty="0"/>
          </a:p>
        </p:txBody>
      </p:sp>
      <p:pic>
        <p:nvPicPr>
          <p:cNvPr id="12" name="Picture 11" descr="Screenshot 2026-08-05 192041"/>
          <p:cNvPicPr>
            <a:picLocks noChangeAspect="1"/>
          </p:cNvPicPr>
          <p:nvPr/>
        </p:nvPicPr>
        <p:blipFill>
          <a:blip r:embed="rId3"/>
          <a:stretch>
            <a:fillRect/>
          </a:stretch>
        </p:blipFill>
        <p:spPr>
          <a:xfrm>
            <a:off x="7520940" y="4789805"/>
            <a:ext cx="1623060" cy="2819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954509"/>
            <a:ext cx="8151763" cy="1059656"/>
          </a:xfrm>
          <a:prstGeom prst="rect">
            <a:avLst/>
          </a:prstGeom>
          <a:noFill/>
        </p:spPr>
        <p:txBody>
          <a:bodyPr wrap="square" lIns="0" tIns="0" rIns="0" bIns="0" rtlCol="0" anchor="t">
            <a:normAutofit/>
          </a:bodyPr>
          <a:lstStyle/>
          <a:p>
            <a:pPr marL="0" indent="0" algn="l">
              <a:lnSpc>
                <a:spcPct val="108000"/>
              </a:lnSpc>
              <a:buNone/>
            </a:pPr>
            <a:r>
              <a:rPr lang="en-US" sz="3200" kern="0" spc="-32" dirty="0">
                <a:solidFill>
                  <a:srgbClr val="532418"/>
                </a:solidFill>
                <a:latin typeface="Marcellus" panose="020E0602050203020307" pitchFamily="34" charset="0"/>
                <a:ea typeface="Marcellus" panose="020E0602050203020307" pitchFamily="34" charset="-122"/>
                <a:cs typeface="Marcellus" panose="020E0602050203020307" pitchFamily="34" charset="-120"/>
              </a:rPr>
              <a:t>The Opportunity: 2.5 Billion People Need Assistive Robots</a:t>
            </a:r>
            <a:endParaRPr lang="en-US" sz="3200" dirty="0"/>
          </a:p>
        </p:txBody>
      </p:sp>
      <p:sp>
        <p:nvSpPr>
          <p:cNvPr id="3" name="Text 1"/>
          <p:cNvSpPr/>
          <p:nvPr/>
        </p:nvSpPr>
        <p:spPr>
          <a:xfrm>
            <a:off x="496119" y="2297609"/>
            <a:ext cx="3987254" cy="467841"/>
          </a:xfrm>
          <a:prstGeom prst="rect">
            <a:avLst/>
          </a:prstGeom>
          <a:noFill/>
        </p:spPr>
        <p:txBody>
          <a:bodyPr wrap="none" lIns="0" tIns="0" rIns="0" bIns="0" rtlCol="0" anchor="t"/>
          <a:lstStyle/>
          <a:p>
            <a:pPr marL="0" indent="0" algn="ctr">
              <a:lnSpc>
                <a:spcPct val="83000"/>
              </a:lnSpc>
              <a:buNone/>
            </a:pPr>
            <a:r>
              <a:rPr lang="en-US" sz="3650" kern="0" spc="-37" dirty="0">
                <a:solidFill>
                  <a:srgbClr val="67534F"/>
                </a:solidFill>
                <a:latin typeface="Marcellus" panose="020E0602050203020307" pitchFamily="34" charset="0"/>
                <a:ea typeface="Marcellus" panose="020E0602050203020307" pitchFamily="34" charset="-122"/>
                <a:cs typeface="Marcellus" panose="020E0602050203020307" pitchFamily="34" charset="-120"/>
              </a:rPr>
              <a:t>2.5B</a:t>
            </a:r>
            <a:endParaRPr lang="en-US" sz="3650" dirty="0"/>
          </a:p>
        </p:txBody>
      </p:sp>
      <p:sp>
        <p:nvSpPr>
          <p:cNvPr id="4" name="Text 2"/>
          <p:cNvSpPr/>
          <p:nvPr/>
        </p:nvSpPr>
        <p:spPr>
          <a:xfrm>
            <a:off x="496119" y="2942555"/>
            <a:ext cx="3987254" cy="264914"/>
          </a:xfrm>
          <a:prstGeom prst="rect">
            <a:avLst/>
          </a:prstGeom>
          <a:noFill/>
        </p:spPr>
        <p:txBody>
          <a:bodyPr wrap="none" lIns="0" tIns="0" rIns="0" bIns="0" rtlCol="0" anchor="t"/>
          <a:lstStyle/>
          <a:p>
            <a:pPr marL="0" indent="0" algn="ctr">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People Today</a:t>
            </a:r>
            <a:endParaRPr lang="en-US" sz="1600" dirty="0"/>
          </a:p>
        </p:txBody>
      </p:sp>
      <p:sp>
        <p:nvSpPr>
          <p:cNvPr id="5" name="Text 3"/>
          <p:cNvSpPr/>
          <p:nvPr/>
        </p:nvSpPr>
        <p:spPr>
          <a:xfrm>
            <a:off x="496119" y="3292525"/>
            <a:ext cx="3987254" cy="368498"/>
          </a:xfrm>
          <a:prstGeom prst="rect">
            <a:avLst/>
          </a:prstGeom>
          <a:noFill/>
        </p:spPr>
        <p:txBody>
          <a:bodyPr wrap="square" lIns="0" tIns="0" rIns="0" bIns="0" rtlCol="0" anchor="t">
            <a:normAutofit/>
          </a:bodyPr>
          <a:lstStyle/>
          <a:p>
            <a:pPr marL="0" indent="0" algn="ctr">
              <a:lnSpc>
                <a:spcPct val="108000"/>
              </a:lnSpc>
              <a:buNone/>
            </a:pPr>
            <a:r>
              <a:rPr lang="en-US" sz="1100" dirty="0">
                <a:solidFill>
                  <a:srgbClr val="67534F"/>
                </a:solidFill>
                <a:latin typeface="Montserrat" pitchFamily="34" charset="0"/>
                <a:ea typeface="Montserrat" pitchFamily="34" charset="-122"/>
                <a:cs typeface="Montserrat" pitchFamily="34" charset="-120"/>
              </a:rPr>
              <a:t>WHO estimates currently requiring assistive products worldwide</a:t>
            </a:r>
            <a:endParaRPr lang="en-US" sz="1100" dirty="0"/>
          </a:p>
        </p:txBody>
      </p:sp>
      <p:sp>
        <p:nvSpPr>
          <p:cNvPr id="6" name="Text 4"/>
          <p:cNvSpPr/>
          <p:nvPr/>
        </p:nvSpPr>
        <p:spPr>
          <a:xfrm>
            <a:off x="4660553" y="2297609"/>
            <a:ext cx="3987329" cy="467841"/>
          </a:xfrm>
          <a:prstGeom prst="rect">
            <a:avLst/>
          </a:prstGeom>
          <a:noFill/>
        </p:spPr>
        <p:txBody>
          <a:bodyPr wrap="none" lIns="0" tIns="0" rIns="0" bIns="0" rtlCol="0" anchor="t"/>
          <a:lstStyle/>
          <a:p>
            <a:pPr marL="0" indent="0" algn="ctr">
              <a:lnSpc>
                <a:spcPct val="83000"/>
              </a:lnSpc>
              <a:buNone/>
            </a:pPr>
            <a:r>
              <a:rPr lang="en-US" sz="3650" kern="0" spc="-37" dirty="0">
                <a:solidFill>
                  <a:srgbClr val="67534F"/>
                </a:solidFill>
                <a:latin typeface="Marcellus" panose="020E0602050203020307" pitchFamily="34" charset="0"/>
                <a:ea typeface="Marcellus" panose="020E0602050203020307" pitchFamily="34" charset="-122"/>
                <a:cs typeface="Marcellus" panose="020E0602050203020307" pitchFamily="34" charset="-120"/>
              </a:rPr>
              <a:t>3.5B</a:t>
            </a:r>
            <a:endParaRPr lang="en-US" sz="3650" dirty="0"/>
          </a:p>
        </p:txBody>
      </p:sp>
      <p:sp>
        <p:nvSpPr>
          <p:cNvPr id="7" name="Text 5"/>
          <p:cNvSpPr/>
          <p:nvPr/>
        </p:nvSpPr>
        <p:spPr>
          <a:xfrm>
            <a:off x="4660553" y="2942555"/>
            <a:ext cx="3987329" cy="264914"/>
          </a:xfrm>
          <a:prstGeom prst="rect">
            <a:avLst/>
          </a:prstGeom>
          <a:noFill/>
        </p:spPr>
        <p:txBody>
          <a:bodyPr wrap="none" lIns="0" tIns="0" rIns="0" bIns="0" rtlCol="0" anchor="t"/>
          <a:lstStyle/>
          <a:p>
            <a:pPr marL="0" indent="0" algn="ctr">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By 2050</a:t>
            </a:r>
            <a:endParaRPr lang="en-US" sz="1600" dirty="0"/>
          </a:p>
        </p:txBody>
      </p:sp>
      <p:sp>
        <p:nvSpPr>
          <p:cNvPr id="8" name="Text 6"/>
          <p:cNvSpPr/>
          <p:nvPr/>
        </p:nvSpPr>
        <p:spPr>
          <a:xfrm>
            <a:off x="4660553" y="3292525"/>
            <a:ext cx="3987329" cy="368498"/>
          </a:xfrm>
          <a:prstGeom prst="rect">
            <a:avLst/>
          </a:prstGeom>
          <a:noFill/>
        </p:spPr>
        <p:txBody>
          <a:bodyPr wrap="square" lIns="0" tIns="0" rIns="0" bIns="0" rtlCol="0" anchor="t">
            <a:normAutofit/>
          </a:bodyPr>
          <a:lstStyle/>
          <a:p>
            <a:pPr marL="0" indent="0" algn="ctr">
              <a:lnSpc>
                <a:spcPct val="108000"/>
              </a:lnSpc>
              <a:buNone/>
            </a:pPr>
            <a:r>
              <a:rPr lang="en-US" sz="1100" dirty="0">
                <a:solidFill>
                  <a:srgbClr val="67534F"/>
                </a:solidFill>
                <a:latin typeface="Montserrat" pitchFamily="34" charset="0"/>
                <a:ea typeface="Montserrat" pitchFamily="34" charset="-122"/>
                <a:cs typeface="Montserrat" pitchFamily="34" charset="-120"/>
              </a:rPr>
              <a:t>Projected global demand for assistive solutions within three decades</a:t>
            </a:r>
            <a:endParaRPr lang="en-US" sz="1100" dirty="0"/>
          </a:p>
        </p:txBody>
      </p:sp>
      <p:sp>
        <p:nvSpPr>
          <p:cNvPr id="9" name="Text 7"/>
          <p:cNvSpPr/>
          <p:nvPr/>
        </p:nvSpPr>
        <p:spPr>
          <a:xfrm>
            <a:off x="496119" y="3820492"/>
            <a:ext cx="8151763" cy="368498"/>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Collaborative robots are already deployed across </a:t>
            </a:r>
            <a:r>
              <a:rPr lang="en-US" sz="1100" b="1" dirty="0">
                <a:solidFill>
                  <a:srgbClr val="67534F"/>
                </a:solidFill>
                <a:latin typeface="Montserrat Bold" pitchFamily="34" charset="0"/>
                <a:ea typeface="Montserrat Bold" pitchFamily="34" charset="-122"/>
                <a:cs typeface="Montserrat Bold" pitchFamily="34" charset="-120"/>
              </a:rPr>
              <a:t>healthcare, manufacturing, logistics, and service sectors</a:t>
            </a:r>
            <a:r>
              <a:rPr lang="en-US" sz="1100" dirty="0">
                <a:solidFill>
                  <a:srgbClr val="67534F"/>
                </a:solidFill>
                <a:latin typeface="Montserrat" pitchFamily="34" charset="0"/>
                <a:ea typeface="Montserrat" pitchFamily="34" charset="-122"/>
                <a:cs typeface="Montserrat" pitchFamily="34" charset="-120"/>
              </a:rPr>
              <a:t>. Natural, intuitive, and safe interaction is no longer optional—it is essential for real-world adoption at scale.</a:t>
            </a:r>
            <a:endParaRPr lang="en-US" sz="1100" dirty="0"/>
          </a:p>
        </p:txBody>
      </p:sp>
      <p:pic>
        <p:nvPicPr>
          <p:cNvPr id="12" name="Picture 11" descr="Screenshot 2026-08-05 192041"/>
          <p:cNvPicPr>
            <a:picLocks noChangeAspect="1"/>
          </p:cNvPicPr>
          <p:nvPr/>
        </p:nvPicPr>
        <p:blipFill>
          <a:blip r:embed="rId1"/>
          <a:stretch>
            <a:fillRect/>
          </a:stretch>
        </p:blipFill>
        <p:spPr>
          <a:xfrm>
            <a:off x="7520940" y="4789805"/>
            <a:ext cx="1623060" cy="2819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88603"/>
            <a:ext cx="8151763" cy="471860"/>
          </a:xfrm>
          <a:prstGeom prst="rect">
            <a:avLst/>
          </a:prstGeom>
          <a:noFill/>
        </p:spPr>
        <p:txBody>
          <a:bodyPr wrap="none" lIns="0" tIns="0" rIns="0" bIns="0" rtlCol="0" anchor="t"/>
          <a:lstStyle/>
          <a:p>
            <a:pPr marL="0" indent="0" algn="l">
              <a:lnSpc>
                <a:spcPct val="108000"/>
              </a:lnSpc>
              <a:buNone/>
            </a:pPr>
            <a:r>
              <a:rPr lang="en-US" sz="2850" kern="0" spc="-29" dirty="0">
                <a:solidFill>
                  <a:srgbClr val="532418"/>
                </a:solidFill>
                <a:latin typeface="Marcellus" panose="020E0602050203020307" pitchFamily="34" charset="0"/>
                <a:ea typeface="Marcellus" panose="020E0602050203020307" pitchFamily="34" charset="-122"/>
                <a:cs typeface="Marcellus" panose="020E0602050203020307" pitchFamily="34" charset="-120"/>
              </a:rPr>
              <a:t>Our Solution: Multi-Agent Multimodal Framework</a:t>
            </a:r>
            <a:endParaRPr lang="en-US" sz="285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185342"/>
            <a:ext cx="252487" cy="252487"/>
          </a:xfrm>
          <a:prstGeom prst="rect">
            <a:avLst/>
          </a:prstGeom>
        </p:spPr>
      </p:pic>
      <p:sp>
        <p:nvSpPr>
          <p:cNvPr id="4" name="Text 1"/>
          <p:cNvSpPr/>
          <p:nvPr/>
        </p:nvSpPr>
        <p:spPr>
          <a:xfrm>
            <a:off x="496119" y="1578322"/>
            <a:ext cx="2623542" cy="235893"/>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Voice Agent</a:t>
            </a:r>
            <a:endParaRPr lang="en-US" sz="1400" dirty="0"/>
          </a:p>
        </p:txBody>
      </p:sp>
      <p:sp>
        <p:nvSpPr>
          <p:cNvPr id="5" name="Text 2"/>
          <p:cNvSpPr/>
          <p:nvPr/>
        </p:nvSpPr>
        <p:spPr>
          <a:xfrm>
            <a:off x="496119" y="1881634"/>
            <a:ext cx="2623542" cy="310307"/>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Speech recognition via </a:t>
            </a:r>
            <a:r>
              <a:rPr lang="en-US" sz="950" b="1" dirty="0">
                <a:solidFill>
                  <a:srgbClr val="67534F"/>
                </a:solidFill>
                <a:latin typeface="Montserrat Bold" pitchFamily="34" charset="0"/>
                <a:ea typeface="Montserrat Bold" pitchFamily="34" charset="-122"/>
                <a:cs typeface="Montserrat Bold" pitchFamily="34" charset="-120"/>
              </a:rPr>
              <a:t>Whisper</a:t>
            </a:r>
            <a:r>
              <a:rPr lang="en-US" sz="950" dirty="0">
                <a:solidFill>
                  <a:srgbClr val="67534F"/>
                </a:solidFill>
                <a:latin typeface="Montserrat" pitchFamily="34" charset="0"/>
                <a:ea typeface="Montserrat" pitchFamily="34" charset="-122"/>
                <a:cs typeface="Montserrat" pitchFamily="34" charset="-120"/>
              </a:rPr>
              <a:t> for natural language commands</a:t>
            </a:r>
            <a:endParaRPr lang="en-US" sz="95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0154" y="1185342"/>
            <a:ext cx="252487" cy="252487"/>
          </a:xfrm>
          <a:prstGeom prst="rect">
            <a:avLst/>
          </a:prstGeom>
        </p:spPr>
      </p:pic>
      <p:sp>
        <p:nvSpPr>
          <p:cNvPr id="7" name="Text 3"/>
          <p:cNvSpPr/>
          <p:nvPr/>
        </p:nvSpPr>
        <p:spPr>
          <a:xfrm>
            <a:off x="3260154" y="1578322"/>
            <a:ext cx="2623617" cy="235893"/>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Gesture Agent</a:t>
            </a:r>
            <a:endParaRPr lang="en-US" sz="1400" dirty="0"/>
          </a:p>
        </p:txBody>
      </p:sp>
      <p:sp>
        <p:nvSpPr>
          <p:cNvPr id="8" name="Text 4"/>
          <p:cNvSpPr/>
          <p:nvPr/>
        </p:nvSpPr>
        <p:spPr>
          <a:xfrm>
            <a:off x="3260154" y="1881634"/>
            <a:ext cx="2623617" cy="310307"/>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Hand gesture recognition for complementary intent signals</a:t>
            </a:r>
            <a:endParaRPr lang="en-US" sz="950" dirty="0"/>
          </a:p>
        </p:txBody>
      </p:sp>
      <p:pic>
        <p:nvPicPr>
          <p:cNvPr id="9"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24265" y="1185342"/>
            <a:ext cx="252487" cy="252487"/>
          </a:xfrm>
          <a:prstGeom prst="rect">
            <a:avLst/>
          </a:prstGeom>
        </p:spPr>
      </p:pic>
      <p:sp>
        <p:nvSpPr>
          <p:cNvPr id="10" name="Text 5"/>
          <p:cNvSpPr/>
          <p:nvPr/>
        </p:nvSpPr>
        <p:spPr>
          <a:xfrm>
            <a:off x="6024265" y="1578322"/>
            <a:ext cx="2623617" cy="235893"/>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Vision Agent</a:t>
            </a:r>
            <a:endParaRPr lang="en-US" sz="1400" dirty="0"/>
          </a:p>
        </p:txBody>
      </p:sp>
      <p:sp>
        <p:nvSpPr>
          <p:cNvPr id="11" name="Text 6"/>
          <p:cNvSpPr/>
          <p:nvPr/>
        </p:nvSpPr>
        <p:spPr>
          <a:xfrm>
            <a:off x="6024265" y="1881634"/>
            <a:ext cx="2623617" cy="310307"/>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Object detection and environmental context via </a:t>
            </a:r>
            <a:r>
              <a:rPr lang="en-US" sz="950" b="1" dirty="0">
                <a:solidFill>
                  <a:srgbClr val="67534F"/>
                </a:solidFill>
                <a:latin typeface="Montserrat Bold" pitchFamily="34" charset="0"/>
                <a:ea typeface="Montserrat Bold" pitchFamily="34" charset="-122"/>
                <a:cs typeface="Montserrat Bold" pitchFamily="34" charset="-120"/>
              </a:rPr>
              <a:t>YOLO</a:t>
            </a:r>
            <a:endParaRPr lang="en-US" sz="950" dirty="0"/>
          </a:p>
        </p:txBody>
      </p:sp>
      <p:pic>
        <p:nvPicPr>
          <p:cNvPr id="1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119" y="2416820"/>
            <a:ext cx="252487" cy="252487"/>
          </a:xfrm>
          <a:prstGeom prst="rect">
            <a:avLst/>
          </a:prstGeom>
        </p:spPr>
      </p:pic>
      <p:sp>
        <p:nvSpPr>
          <p:cNvPr id="13" name="Text 7"/>
          <p:cNvSpPr/>
          <p:nvPr/>
        </p:nvSpPr>
        <p:spPr>
          <a:xfrm>
            <a:off x="496119" y="2809801"/>
            <a:ext cx="2623542" cy="235893"/>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Coordinator Agent</a:t>
            </a:r>
            <a:endParaRPr lang="en-US" sz="1400" dirty="0"/>
          </a:p>
        </p:txBody>
      </p:sp>
      <p:sp>
        <p:nvSpPr>
          <p:cNvPr id="14" name="Text 8"/>
          <p:cNvSpPr/>
          <p:nvPr/>
        </p:nvSpPr>
        <p:spPr>
          <a:xfrm>
            <a:off x="496119" y="3113112"/>
            <a:ext cx="2623542" cy="310307"/>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Multimodal fusion to resolve ambiguities and infer true intent</a:t>
            </a:r>
            <a:endParaRPr lang="en-US" sz="950" dirty="0"/>
          </a:p>
        </p:txBody>
      </p:sp>
      <p:pic>
        <p:nvPicPr>
          <p:cNvPr id="15"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60154" y="2416820"/>
            <a:ext cx="252487" cy="252487"/>
          </a:xfrm>
          <a:prstGeom prst="rect">
            <a:avLst/>
          </a:prstGeom>
        </p:spPr>
      </p:pic>
      <p:sp>
        <p:nvSpPr>
          <p:cNvPr id="16" name="Text 9"/>
          <p:cNvSpPr/>
          <p:nvPr/>
        </p:nvSpPr>
        <p:spPr>
          <a:xfrm>
            <a:off x="3260154" y="2809801"/>
            <a:ext cx="2623617" cy="235893"/>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Memory Agent</a:t>
            </a:r>
            <a:endParaRPr lang="en-US" sz="1400" dirty="0"/>
          </a:p>
        </p:txBody>
      </p:sp>
      <p:sp>
        <p:nvSpPr>
          <p:cNvPr id="17" name="Text 10"/>
          <p:cNvSpPr/>
          <p:nvPr/>
        </p:nvSpPr>
        <p:spPr>
          <a:xfrm>
            <a:off x="3260154" y="3113112"/>
            <a:ext cx="2623617" cy="310307"/>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Contextual history for personalized, consistent behavior</a:t>
            </a:r>
            <a:endParaRPr lang="en-US" sz="950" dirty="0"/>
          </a:p>
        </p:txBody>
      </p:sp>
      <p:pic>
        <p:nvPicPr>
          <p:cNvPr id="18"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24265" y="2416820"/>
            <a:ext cx="252487" cy="252487"/>
          </a:xfrm>
          <a:prstGeom prst="rect">
            <a:avLst/>
          </a:prstGeom>
        </p:spPr>
      </p:pic>
      <p:sp>
        <p:nvSpPr>
          <p:cNvPr id="19" name="Text 11"/>
          <p:cNvSpPr/>
          <p:nvPr/>
        </p:nvSpPr>
        <p:spPr>
          <a:xfrm>
            <a:off x="6024265" y="2809801"/>
            <a:ext cx="2623617" cy="235893"/>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Safety Agent</a:t>
            </a:r>
            <a:endParaRPr lang="en-US" sz="1400" dirty="0"/>
          </a:p>
        </p:txBody>
      </p:sp>
      <p:sp>
        <p:nvSpPr>
          <p:cNvPr id="20" name="Text 12"/>
          <p:cNvSpPr/>
          <p:nvPr/>
        </p:nvSpPr>
        <p:spPr>
          <a:xfrm>
            <a:off x="6024265" y="3113112"/>
            <a:ext cx="2623617" cy="310307"/>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Pre-execution verification to prevent unsafe actions</a:t>
            </a:r>
            <a:endParaRPr lang="en-US" sz="950" dirty="0"/>
          </a:p>
        </p:txBody>
      </p:sp>
      <p:sp>
        <p:nvSpPr>
          <p:cNvPr id="21" name="Shape 13"/>
          <p:cNvSpPr/>
          <p:nvPr/>
        </p:nvSpPr>
        <p:spPr>
          <a:xfrm>
            <a:off x="508769" y="3661990"/>
            <a:ext cx="227112" cy="224954"/>
          </a:xfrm>
          <a:prstGeom prst="roundRect">
            <a:avLst>
              <a:gd name="adj" fmla="val 15243"/>
            </a:avLst>
          </a:prstGeom>
          <a:solidFill>
            <a:srgbClr val="DFDFE0"/>
          </a:solidFill>
        </p:spPr>
      </p:sp>
      <p:pic>
        <p:nvPicPr>
          <p:cNvPr id="22" name="Image 6" descr="preencoded.png"/>
          <p:cNvPicPr>
            <a:picLocks noChangeAspect="1"/>
          </p:cNvPicPr>
          <p:nvPr/>
        </p:nvPicPr>
        <p:blipFill>
          <a:blip r:embed="rId13"/>
          <a:stretch>
            <a:fillRect/>
          </a:stretch>
        </p:blipFill>
        <p:spPr>
          <a:xfrm>
            <a:off x="559222" y="3724052"/>
            <a:ext cx="126206" cy="100980"/>
          </a:xfrm>
          <a:prstGeom prst="rect">
            <a:avLst/>
          </a:prstGeom>
        </p:spPr>
      </p:pic>
      <p:sp>
        <p:nvSpPr>
          <p:cNvPr id="23" name="Text 14"/>
          <p:cNvSpPr/>
          <p:nvPr/>
        </p:nvSpPr>
        <p:spPr>
          <a:xfrm>
            <a:off x="496119" y="4041279"/>
            <a:ext cx="2623542" cy="235893"/>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Task Planner</a:t>
            </a:r>
            <a:endParaRPr lang="en-US" sz="1400" dirty="0"/>
          </a:p>
        </p:txBody>
      </p:sp>
      <p:sp>
        <p:nvSpPr>
          <p:cNvPr id="24" name="Text 15"/>
          <p:cNvSpPr/>
          <p:nvPr/>
        </p:nvSpPr>
        <p:spPr>
          <a:xfrm>
            <a:off x="496119" y="4344591"/>
            <a:ext cx="2623542" cy="310307"/>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Converts validated intent into executable robot actions</a:t>
            </a:r>
            <a:endParaRPr lang="en-US" sz="950" dirty="0"/>
          </a:p>
        </p:txBody>
      </p:sp>
      <p:pic>
        <p:nvPicPr>
          <p:cNvPr id="25" name="Picture 24" descr="Screenshot 2026-08-05 192041"/>
          <p:cNvPicPr>
            <a:picLocks noChangeAspect="1"/>
          </p:cNvPicPr>
          <p:nvPr/>
        </p:nvPicPr>
        <p:blipFill>
          <a:blip r:embed="rId14"/>
          <a:stretch>
            <a:fillRect/>
          </a:stretch>
        </p:blipFill>
        <p:spPr>
          <a:xfrm>
            <a:off x="7520940" y="4805045"/>
            <a:ext cx="1623060" cy="2819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95213"/>
            <a:ext cx="8151763" cy="306363"/>
          </a:xfrm>
          <a:prstGeom prst="rect">
            <a:avLst/>
          </a:prstGeom>
          <a:noFill/>
        </p:spPr>
        <p:txBody>
          <a:bodyPr wrap="none" lIns="0" tIns="0" rIns="0" bIns="0" rtlCol="0" anchor="t"/>
          <a:lstStyle/>
          <a:p>
            <a:pPr marL="0" indent="0" algn="l">
              <a:lnSpc>
                <a:spcPct val="108000"/>
              </a:lnSpc>
              <a:buNone/>
            </a:pPr>
            <a:r>
              <a:rPr lang="en-US" sz="1850" kern="0" spc="-19" dirty="0">
                <a:solidFill>
                  <a:srgbClr val="532418"/>
                </a:solidFill>
                <a:latin typeface="Marcellus" panose="020E0602050203020307" pitchFamily="34" charset="0"/>
                <a:ea typeface="Marcellus" panose="020E0602050203020307" pitchFamily="34" charset="-122"/>
                <a:cs typeface="Marcellus" panose="020E0602050203020307" pitchFamily="34" charset="-120"/>
              </a:rPr>
              <a:t>System Architecture: Three Integrated Layers</a:t>
            </a:r>
            <a:endParaRPr lang="en-US" sz="1850" dirty="0"/>
          </a:p>
        </p:txBody>
      </p:sp>
      <p:pic>
        <p:nvPicPr>
          <p:cNvPr id="3" name="Image 0" descr="preencoded.png"/>
          <p:cNvPicPr>
            <a:picLocks noChangeAspect="1"/>
          </p:cNvPicPr>
          <p:nvPr/>
        </p:nvPicPr>
        <p:blipFill>
          <a:blip r:embed="rId1"/>
          <a:stretch>
            <a:fillRect/>
          </a:stretch>
        </p:blipFill>
        <p:spPr>
          <a:xfrm>
            <a:off x="496119" y="796305"/>
            <a:ext cx="8151763" cy="3730600"/>
          </a:xfrm>
          <a:prstGeom prst="rect">
            <a:avLst/>
          </a:prstGeom>
        </p:spPr>
      </p:pic>
      <p:sp>
        <p:nvSpPr>
          <p:cNvPr id="4" name="Text 1"/>
          <p:cNvSpPr/>
          <p:nvPr/>
        </p:nvSpPr>
        <p:spPr>
          <a:xfrm>
            <a:off x="6467310" y="1285165"/>
            <a:ext cx="1987578" cy="269485"/>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Execution Layer</a:t>
            </a:r>
            <a:endParaRPr lang="en-US" sz="1600" dirty="0"/>
          </a:p>
        </p:txBody>
      </p:sp>
      <p:sp>
        <p:nvSpPr>
          <p:cNvPr id="5" name="Text 2"/>
          <p:cNvSpPr/>
          <p:nvPr/>
        </p:nvSpPr>
        <p:spPr>
          <a:xfrm>
            <a:off x="6467310" y="1618766"/>
            <a:ext cx="1987578" cy="284512"/>
          </a:xfrm>
          <a:prstGeom prst="rect">
            <a:avLst/>
          </a:prstGeom>
          <a:noFill/>
        </p:spPr>
        <p:txBody>
          <a:bodyPr wrap="square" lIns="0" tIns="0" rIns="0" bIns="0" rtlCol="0" anchor="t">
            <a:normAutofit lnSpcReduction="10000"/>
          </a:bodyPr>
          <a:lstStyle/>
          <a:p>
            <a:pPr marL="0" indent="0" algn="l">
              <a:lnSpc>
                <a:spcPct val="82000"/>
              </a:lnSpc>
              <a:buNone/>
            </a:pPr>
            <a:r>
              <a:rPr lang="en-US" sz="1100" dirty="0">
                <a:solidFill>
                  <a:srgbClr val="67534F"/>
                </a:solidFill>
                <a:latin typeface="Montserrat" pitchFamily="34" charset="0"/>
                <a:ea typeface="Montserrat" pitchFamily="34" charset="-122"/>
                <a:cs typeface="Montserrat" pitchFamily="34" charset="-120"/>
              </a:rPr>
              <a:t>Planner sequences actions; controller executes safely</a:t>
            </a:r>
            <a:endParaRPr lang="en-US" sz="1100" dirty="0"/>
          </a:p>
        </p:txBody>
      </p:sp>
      <p:sp>
        <p:nvSpPr>
          <p:cNvPr id="6" name="Text 3"/>
          <p:cNvSpPr/>
          <p:nvPr/>
        </p:nvSpPr>
        <p:spPr>
          <a:xfrm>
            <a:off x="688908" y="2440245"/>
            <a:ext cx="1827290" cy="269485"/>
          </a:xfrm>
          <a:prstGeom prst="rect">
            <a:avLst/>
          </a:prstGeom>
          <a:noFill/>
        </p:spPr>
        <p:txBody>
          <a:bodyPr wrap="none" lIns="0" tIns="0" rIns="0" bIns="0" rtlCol="0" anchor="t"/>
          <a:lstStyle/>
          <a:p>
            <a:pPr marL="0" indent="0" algn="r">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Reasoning Layer</a:t>
            </a:r>
            <a:endParaRPr lang="en-US" sz="1600" dirty="0"/>
          </a:p>
        </p:txBody>
      </p:sp>
      <p:sp>
        <p:nvSpPr>
          <p:cNvPr id="7" name="Text 4"/>
          <p:cNvSpPr/>
          <p:nvPr/>
        </p:nvSpPr>
        <p:spPr>
          <a:xfrm>
            <a:off x="688908" y="2773845"/>
            <a:ext cx="1827290" cy="426768"/>
          </a:xfrm>
          <a:prstGeom prst="rect">
            <a:avLst/>
          </a:prstGeom>
          <a:noFill/>
        </p:spPr>
        <p:txBody>
          <a:bodyPr wrap="square" lIns="0" tIns="0" rIns="0" bIns="0" rtlCol="0" anchor="t">
            <a:normAutofit lnSpcReduction="10000"/>
          </a:bodyPr>
          <a:lstStyle/>
          <a:p>
            <a:pPr marL="0" indent="0" algn="r">
              <a:lnSpc>
                <a:spcPct val="82000"/>
              </a:lnSpc>
              <a:buNone/>
            </a:pPr>
            <a:r>
              <a:rPr lang="en-US" sz="1100" dirty="0">
                <a:solidFill>
                  <a:srgbClr val="67534F"/>
                </a:solidFill>
                <a:latin typeface="Montserrat" pitchFamily="34" charset="0"/>
                <a:ea typeface="Montserrat" pitchFamily="34" charset="-122"/>
                <a:cs typeface="Montserrat" pitchFamily="34" charset="-120"/>
              </a:rPr>
              <a:t>Coordinator fuses signals; memory and safety validate</a:t>
            </a:r>
            <a:endParaRPr lang="en-US" sz="1100" dirty="0"/>
          </a:p>
        </p:txBody>
      </p:sp>
      <p:sp>
        <p:nvSpPr>
          <p:cNvPr id="8" name="Text 5"/>
          <p:cNvSpPr/>
          <p:nvPr/>
        </p:nvSpPr>
        <p:spPr>
          <a:xfrm>
            <a:off x="6467310" y="3144512"/>
            <a:ext cx="1987578" cy="269485"/>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Perception Layer</a:t>
            </a:r>
            <a:endParaRPr lang="en-US" sz="1600" dirty="0"/>
          </a:p>
        </p:txBody>
      </p:sp>
      <p:sp>
        <p:nvSpPr>
          <p:cNvPr id="9" name="Text 6"/>
          <p:cNvSpPr/>
          <p:nvPr/>
        </p:nvSpPr>
        <p:spPr>
          <a:xfrm>
            <a:off x="6467310" y="3478113"/>
            <a:ext cx="1987578" cy="284512"/>
          </a:xfrm>
          <a:prstGeom prst="rect">
            <a:avLst/>
          </a:prstGeom>
          <a:noFill/>
        </p:spPr>
        <p:txBody>
          <a:bodyPr wrap="square" lIns="0" tIns="0" rIns="0" bIns="0" rtlCol="0" anchor="t">
            <a:normAutofit lnSpcReduction="10000"/>
          </a:bodyPr>
          <a:lstStyle/>
          <a:p>
            <a:pPr marL="0" indent="0" algn="l">
              <a:lnSpc>
                <a:spcPct val="82000"/>
              </a:lnSpc>
              <a:buNone/>
            </a:pPr>
            <a:r>
              <a:rPr lang="en-US" sz="1100" dirty="0">
                <a:solidFill>
                  <a:srgbClr val="67534F"/>
                </a:solidFill>
                <a:latin typeface="Montserrat" pitchFamily="34" charset="0"/>
                <a:ea typeface="Montserrat" pitchFamily="34" charset="-122"/>
                <a:cs typeface="Montserrat" pitchFamily="34" charset="-120"/>
              </a:rPr>
              <a:t>Voice, gesture, vision agents process inputs</a:t>
            </a:r>
            <a:endParaRPr lang="en-US" sz="1100" dirty="0"/>
          </a:p>
        </p:txBody>
      </p:sp>
      <p:sp>
        <p:nvSpPr>
          <p:cNvPr id="10" name="Text 7"/>
          <p:cNvSpPr/>
          <p:nvPr/>
        </p:nvSpPr>
        <p:spPr>
          <a:xfrm>
            <a:off x="496119" y="4580186"/>
            <a:ext cx="8151763" cy="168027"/>
          </a:xfrm>
          <a:prstGeom prst="rect">
            <a:avLst/>
          </a:prstGeom>
          <a:noFill/>
        </p:spPr>
        <p:txBody>
          <a:bodyPr wrap="square" lIns="0" tIns="0" rIns="0" bIns="0" rtlCol="0" anchor="t">
            <a:normAutofit/>
          </a:bodyPr>
          <a:lstStyle/>
          <a:p>
            <a:pPr marL="0" indent="0" algn="l">
              <a:lnSpc>
                <a:spcPct val="85000"/>
              </a:lnSpc>
              <a:buNone/>
            </a:pPr>
            <a:r>
              <a:rPr lang="en-US" sz="600" dirty="0">
                <a:solidFill>
                  <a:srgbClr val="67534F"/>
                </a:solidFill>
                <a:latin typeface="Montserrat" pitchFamily="34" charset="0"/>
                <a:ea typeface="Montserrat" pitchFamily="34" charset="-122"/>
                <a:cs typeface="Montserrat" pitchFamily="34" charset="-120"/>
              </a:rPr>
              <a:t>Each layer operates in sequence—raw sensory inputs are processed in parallel at the perception layer, unified and validated by the reasoning layer, and finally translated into safe, executable robot actions by the execution layer.</a:t>
            </a:r>
            <a:endParaRPr lang="en-US" sz="600" dirty="0"/>
          </a:p>
        </p:txBody>
      </p:sp>
      <p:pic>
        <p:nvPicPr>
          <p:cNvPr id="12" name="Picture 11" descr="Screenshot 2026-08-05 192041"/>
          <p:cNvPicPr>
            <a:picLocks noChangeAspect="1"/>
          </p:cNvPicPr>
          <p:nvPr/>
        </p:nvPicPr>
        <p:blipFill>
          <a:blip r:embed="rId2"/>
          <a:stretch>
            <a:fillRect/>
          </a:stretch>
        </p:blipFill>
        <p:spPr>
          <a:xfrm>
            <a:off x="7520940" y="4789805"/>
            <a:ext cx="1623060" cy="2819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976015"/>
            <a:ext cx="8151763" cy="1059656"/>
          </a:xfrm>
          <a:prstGeom prst="rect">
            <a:avLst/>
          </a:prstGeom>
          <a:noFill/>
        </p:spPr>
        <p:txBody>
          <a:bodyPr wrap="square" lIns="0" tIns="0" rIns="0" bIns="0" rtlCol="0" anchor="t">
            <a:normAutofit/>
          </a:bodyPr>
          <a:lstStyle/>
          <a:p>
            <a:pPr marL="0" indent="0" algn="l">
              <a:lnSpc>
                <a:spcPct val="108000"/>
              </a:lnSpc>
              <a:buNone/>
            </a:pPr>
            <a:r>
              <a:rPr lang="en-US" sz="3200" kern="0" spc="-32" dirty="0">
                <a:solidFill>
                  <a:srgbClr val="532418"/>
                </a:solidFill>
                <a:latin typeface="Marcellus" panose="020E0602050203020307" pitchFamily="34" charset="0"/>
                <a:ea typeface="Marcellus" panose="020E0602050203020307" pitchFamily="34" charset="-122"/>
                <a:cs typeface="Marcellus" panose="020E0602050203020307" pitchFamily="34" charset="-120"/>
              </a:rPr>
              <a:t>Key Innovation: Multimodal Fusion + Safety-Aware Reasoning</a:t>
            </a:r>
            <a:endParaRPr lang="en-US" sz="3200" dirty="0"/>
          </a:p>
        </p:txBody>
      </p:sp>
      <p:sp>
        <p:nvSpPr>
          <p:cNvPr id="3" name="Shape 1"/>
          <p:cNvSpPr/>
          <p:nvPr/>
        </p:nvSpPr>
        <p:spPr>
          <a:xfrm>
            <a:off x="496119" y="2319189"/>
            <a:ext cx="2622724" cy="1848222"/>
          </a:xfrm>
          <a:prstGeom prst="roundRect">
            <a:avLst>
              <a:gd name="adj" fmla="val 3222"/>
            </a:avLst>
          </a:prstGeom>
          <a:solidFill>
            <a:srgbClr val="FFFFF4"/>
          </a:solidFill>
          <a:ln w="14288">
            <a:solidFill>
              <a:srgbClr val="FFE0CC"/>
            </a:solidFill>
            <a:prstDash val="solid"/>
          </a:ln>
        </p:spPr>
      </p:sp>
      <p:sp>
        <p:nvSpPr>
          <p:cNvPr id="4" name="Text 2"/>
          <p:cNvSpPr/>
          <p:nvPr/>
        </p:nvSpPr>
        <p:spPr>
          <a:xfrm>
            <a:off x="652165" y="2475235"/>
            <a:ext cx="2310631" cy="529828"/>
          </a:xfrm>
          <a:prstGeom prst="rect">
            <a:avLst/>
          </a:prstGeom>
          <a:noFill/>
        </p:spPr>
        <p:txBody>
          <a:bodyPr wrap="square" lIns="0" tIns="0" rIns="0" bIns="0" rtlCol="0" anchor="t">
            <a:normAutofit/>
          </a:bodyPr>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Fusion Resolves Ambiguity</a:t>
            </a:r>
            <a:endParaRPr lang="en-US" sz="1600" dirty="0"/>
          </a:p>
        </p:txBody>
      </p:sp>
      <p:sp>
        <p:nvSpPr>
          <p:cNvPr id="5" name="Text 3"/>
          <p:cNvSpPr/>
          <p:nvPr/>
        </p:nvSpPr>
        <p:spPr>
          <a:xfrm>
            <a:off x="652165" y="3090118"/>
            <a:ext cx="2310631" cy="921246"/>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Single modality fails under real-world noise. Multimodal fusion resolves </a:t>
            </a:r>
            <a:r>
              <a:rPr lang="en-US" sz="1100" b="1" dirty="0">
                <a:solidFill>
                  <a:srgbClr val="67534F"/>
                </a:solidFill>
                <a:latin typeface="Montserrat Bold" pitchFamily="34" charset="0"/>
                <a:ea typeface="Montserrat Bold" pitchFamily="34" charset="-122"/>
                <a:cs typeface="Montserrat Bold" pitchFamily="34" charset="-120"/>
              </a:rPr>
              <a:t>70%+ of ambiguous cases</a:t>
            </a:r>
            <a:r>
              <a:rPr lang="en-US" sz="1100" dirty="0">
                <a:solidFill>
                  <a:srgbClr val="67534F"/>
                </a:solidFill>
                <a:latin typeface="Montserrat" pitchFamily="34" charset="0"/>
                <a:ea typeface="Montserrat" pitchFamily="34" charset="-122"/>
                <a:cs typeface="Montserrat" pitchFamily="34" charset="-120"/>
              </a:rPr>
              <a:t> by cross-validating voice, gesture, and vision signals.</a:t>
            </a:r>
            <a:endParaRPr lang="en-US" sz="1100" dirty="0"/>
          </a:p>
        </p:txBody>
      </p:sp>
      <p:sp>
        <p:nvSpPr>
          <p:cNvPr id="6" name="Shape 4"/>
          <p:cNvSpPr/>
          <p:nvPr/>
        </p:nvSpPr>
        <p:spPr>
          <a:xfrm>
            <a:off x="3260601" y="2319189"/>
            <a:ext cx="2622724" cy="1848222"/>
          </a:xfrm>
          <a:prstGeom prst="roundRect">
            <a:avLst>
              <a:gd name="adj" fmla="val 3222"/>
            </a:avLst>
          </a:prstGeom>
          <a:solidFill>
            <a:srgbClr val="FFFFF4"/>
          </a:solidFill>
          <a:ln w="14288">
            <a:solidFill>
              <a:srgbClr val="FFE0CC"/>
            </a:solidFill>
            <a:prstDash val="solid"/>
          </a:ln>
        </p:spPr>
      </p:sp>
      <p:sp>
        <p:nvSpPr>
          <p:cNvPr id="7" name="Text 5"/>
          <p:cNvSpPr/>
          <p:nvPr/>
        </p:nvSpPr>
        <p:spPr>
          <a:xfrm>
            <a:off x="3416647" y="2475235"/>
            <a:ext cx="2310631"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Safety-Aware Execution</a:t>
            </a:r>
            <a:endParaRPr lang="en-US" sz="1600" dirty="0"/>
          </a:p>
        </p:txBody>
      </p:sp>
      <p:sp>
        <p:nvSpPr>
          <p:cNvPr id="8" name="Text 6"/>
          <p:cNvSpPr/>
          <p:nvPr/>
        </p:nvSpPr>
        <p:spPr>
          <a:xfrm>
            <a:off x="3416647" y="2825204"/>
            <a:ext cx="2310631" cy="921246"/>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The Safety Agent evaluates environmental conditions </a:t>
            </a:r>
            <a:r>
              <a:rPr lang="en-US" sz="1100" b="1" dirty="0">
                <a:solidFill>
                  <a:srgbClr val="67534F"/>
                </a:solidFill>
                <a:latin typeface="Montserrat Bold" pitchFamily="34" charset="0"/>
                <a:ea typeface="Montserrat Bold" pitchFamily="34" charset="-122"/>
                <a:cs typeface="Montserrat Bold" pitchFamily="34" charset="-120"/>
              </a:rPr>
              <a:t>before any action executes</a:t>
            </a:r>
            <a:r>
              <a:rPr lang="en-US" sz="1100" dirty="0">
                <a:solidFill>
                  <a:srgbClr val="67534F"/>
                </a:solidFill>
                <a:latin typeface="Montserrat" pitchFamily="34" charset="0"/>
                <a:ea typeface="Montserrat" pitchFamily="34" charset="-122"/>
                <a:cs typeface="Montserrat" pitchFamily="34" charset="-120"/>
              </a:rPr>
              <a:t>—preventing accidents in human-robot proximity zones.</a:t>
            </a:r>
            <a:endParaRPr lang="en-US" sz="1100" dirty="0"/>
          </a:p>
        </p:txBody>
      </p:sp>
      <p:sp>
        <p:nvSpPr>
          <p:cNvPr id="9" name="Shape 7"/>
          <p:cNvSpPr/>
          <p:nvPr/>
        </p:nvSpPr>
        <p:spPr>
          <a:xfrm>
            <a:off x="6025083" y="2319189"/>
            <a:ext cx="2622724" cy="1848222"/>
          </a:xfrm>
          <a:prstGeom prst="roundRect">
            <a:avLst>
              <a:gd name="adj" fmla="val 3222"/>
            </a:avLst>
          </a:prstGeom>
          <a:solidFill>
            <a:srgbClr val="FFFFF4"/>
          </a:solidFill>
          <a:ln w="14288">
            <a:solidFill>
              <a:srgbClr val="FFE0CC"/>
            </a:solidFill>
            <a:prstDash val="solid"/>
          </a:ln>
        </p:spPr>
      </p:sp>
      <p:sp>
        <p:nvSpPr>
          <p:cNvPr id="10" name="Text 8"/>
          <p:cNvSpPr/>
          <p:nvPr/>
        </p:nvSpPr>
        <p:spPr>
          <a:xfrm>
            <a:off x="6181130" y="2475235"/>
            <a:ext cx="2310631"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LLM-Powered Reasoning</a:t>
            </a:r>
            <a:endParaRPr lang="en-US" sz="1600" dirty="0"/>
          </a:p>
        </p:txBody>
      </p:sp>
      <p:sp>
        <p:nvSpPr>
          <p:cNvPr id="11" name="Text 9"/>
          <p:cNvSpPr/>
          <p:nvPr/>
        </p:nvSpPr>
        <p:spPr>
          <a:xfrm>
            <a:off x="6181130" y="2825204"/>
            <a:ext cx="2310631" cy="921246"/>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The Coordinator Agent applies large language model reasoning to weight signals and </a:t>
            </a:r>
            <a:r>
              <a:rPr lang="en-US" sz="1100" b="1" dirty="0">
                <a:solidFill>
                  <a:srgbClr val="67534F"/>
                </a:solidFill>
                <a:latin typeface="Montserrat Bold" pitchFamily="34" charset="0"/>
                <a:ea typeface="Montserrat Bold" pitchFamily="34" charset="-122"/>
                <a:cs typeface="Montserrat Bold" pitchFamily="34" charset="-120"/>
              </a:rPr>
              <a:t>validate intent</a:t>
            </a:r>
            <a:r>
              <a:rPr lang="en-US" sz="1100" dirty="0">
                <a:solidFill>
                  <a:srgbClr val="67534F"/>
                </a:solidFill>
                <a:latin typeface="Montserrat" pitchFamily="34" charset="0"/>
                <a:ea typeface="Montserrat" pitchFamily="34" charset="-122"/>
                <a:cs typeface="Montserrat" pitchFamily="34" charset="-120"/>
              </a:rPr>
              <a:t> before committing to any task plan.</a:t>
            </a:r>
            <a:endParaRPr lang="en-US" sz="1100" dirty="0"/>
          </a:p>
        </p:txBody>
      </p:sp>
      <p:pic>
        <p:nvPicPr>
          <p:cNvPr id="12" name="Picture 11" descr="Screenshot 2026-08-05 192041"/>
          <p:cNvPicPr>
            <a:picLocks noChangeAspect="1"/>
          </p:cNvPicPr>
          <p:nvPr/>
        </p:nvPicPr>
        <p:blipFill>
          <a:blip r:embed="rId1"/>
          <a:stretch>
            <a:fillRect/>
          </a:stretch>
        </p:blipFill>
        <p:spPr>
          <a:xfrm>
            <a:off x="7520940" y="4789805"/>
            <a:ext cx="1623060" cy="2819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120601"/>
            <a:ext cx="8151763" cy="529828"/>
          </a:xfrm>
          <a:prstGeom prst="rect">
            <a:avLst/>
          </a:prstGeom>
          <a:noFill/>
        </p:spPr>
        <p:txBody>
          <a:bodyPr wrap="none" lIns="0" tIns="0" rIns="0" bIns="0" rtlCol="0" anchor="t"/>
          <a:lstStyle/>
          <a:p>
            <a:pPr marL="0" indent="0" algn="l">
              <a:lnSpc>
                <a:spcPct val="108000"/>
              </a:lnSpc>
              <a:buNone/>
            </a:pPr>
            <a:r>
              <a:rPr lang="en-US" sz="3200" kern="0" spc="-32" dirty="0">
                <a:solidFill>
                  <a:srgbClr val="532418"/>
                </a:solidFill>
                <a:latin typeface="Marcellus" panose="020E0602050203020307" pitchFamily="34" charset="0"/>
                <a:ea typeface="Marcellus" panose="020E0602050203020307" pitchFamily="34" charset="-122"/>
                <a:cs typeface="Marcellus" panose="020E0602050203020307" pitchFamily="34" charset="-120"/>
              </a:rPr>
              <a:t>Why This Matters: Closing the Research Gap</a:t>
            </a:r>
            <a:endParaRPr lang="en-US" sz="320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9250" y="1942728"/>
            <a:ext cx="212601" cy="212601"/>
          </a:xfrm>
          <a:prstGeom prst="rect">
            <a:avLst/>
          </a:prstGeom>
        </p:spPr>
      </p:pic>
      <p:sp>
        <p:nvSpPr>
          <p:cNvPr id="4" name="Text 1"/>
          <p:cNvSpPr/>
          <p:nvPr/>
        </p:nvSpPr>
        <p:spPr>
          <a:xfrm>
            <a:off x="956816" y="1933947"/>
            <a:ext cx="3526557"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Voice-Only Systems</a:t>
            </a:r>
            <a:endParaRPr lang="en-US" sz="1600" dirty="0"/>
          </a:p>
        </p:txBody>
      </p:sp>
      <p:sp>
        <p:nvSpPr>
          <p:cNvPr id="5" name="Text 2"/>
          <p:cNvSpPr/>
          <p:nvPr/>
        </p:nvSpPr>
        <p:spPr>
          <a:xfrm>
            <a:off x="956816" y="2283916"/>
            <a:ext cx="3526557" cy="368498"/>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Lack gesture and visual context integration—fail in occluded or noisy scenarios</a:t>
            </a:r>
            <a:endParaRPr lang="en-US" sz="1100" dirty="0"/>
          </a:p>
        </p:txBody>
      </p:sp>
      <p:pic>
        <p:nvPicPr>
          <p:cNvPr id="6"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13684" y="1942728"/>
            <a:ext cx="212601" cy="212601"/>
          </a:xfrm>
          <a:prstGeom prst="rect">
            <a:avLst/>
          </a:prstGeom>
        </p:spPr>
      </p:pic>
      <p:sp>
        <p:nvSpPr>
          <p:cNvPr id="7" name="Text 3"/>
          <p:cNvSpPr/>
          <p:nvPr/>
        </p:nvSpPr>
        <p:spPr>
          <a:xfrm>
            <a:off x="5121250" y="1933947"/>
            <a:ext cx="3526631"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Gesture Recognition Systems</a:t>
            </a:r>
            <a:endParaRPr lang="en-US" sz="1600" dirty="0"/>
          </a:p>
        </p:txBody>
      </p:sp>
      <p:sp>
        <p:nvSpPr>
          <p:cNvPr id="8" name="Text 4"/>
          <p:cNvSpPr/>
          <p:nvPr/>
        </p:nvSpPr>
        <p:spPr>
          <a:xfrm>
            <a:off x="5121250" y="2283916"/>
            <a:ext cx="3526631" cy="368498"/>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Perform perception only—no high-level semantic reasoning or intent validation</a:t>
            </a:r>
            <a:endParaRPr lang="en-US" sz="1100" dirty="0"/>
          </a:p>
        </p:txBody>
      </p:sp>
      <p:pic>
        <p:nvPicPr>
          <p:cNvPr id="9"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9250" y="2944713"/>
            <a:ext cx="212601" cy="212601"/>
          </a:xfrm>
          <a:prstGeom prst="rect">
            <a:avLst/>
          </a:prstGeom>
        </p:spPr>
      </p:pic>
      <p:sp>
        <p:nvSpPr>
          <p:cNvPr id="10" name="Text 5"/>
          <p:cNvSpPr/>
          <p:nvPr/>
        </p:nvSpPr>
        <p:spPr>
          <a:xfrm>
            <a:off x="956816" y="2935932"/>
            <a:ext cx="3526557"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Existing Multi-Agent Frameworks</a:t>
            </a:r>
            <a:endParaRPr lang="en-US" sz="1600" dirty="0"/>
          </a:p>
        </p:txBody>
      </p:sp>
      <p:sp>
        <p:nvSpPr>
          <p:cNvPr id="11" name="Text 6"/>
          <p:cNvSpPr/>
          <p:nvPr/>
        </p:nvSpPr>
        <p:spPr>
          <a:xfrm>
            <a:off x="956816" y="3285902"/>
            <a:ext cx="3526557" cy="368498"/>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Lack multimodal human communication channels and real-time safety validation layers</a:t>
            </a:r>
            <a:endParaRPr lang="en-US" sz="1100" dirty="0"/>
          </a:p>
        </p:txBody>
      </p:sp>
      <p:pic>
        <p:nvPicPr>
          <p:cNvPr id="12" name="Image 3"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13684" y="2944713"/>
            <a:ext cx="212601" cy="212601"/>
          </a:xfrm>
          <a:prstGeom prst="rect">
            <a:avLst/>
          </a:prstGeom>
        </p:spPr>
      </p:pic>
      <p:sp>
        <p:nvSpPr>
          <p:cNvPr id="13" name="Text 7"/>
          <p:cNvSpPr/>
          <p:nvPr/>
        </p:nvSpPr>
        <p:spPr>
          <a:xfrm>
            <a:off x="5121250" y="2935932"/>
            <a:ext cx="3526631"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FF954F"/>
                </a:solidFill>
                <a:latin typeface="Marcellus" panose="020E0602050203020307" pitchFamily="34" charset="0"/>
                <a:ea typeface="Marcellus" panose="020E0602050203020307" pitchFamily="34" charset="-122"/>
                <a:cs typeface="Marcellus" panose="020E0602050203020307" pitchFamily="34" charset="-120"/>
              </a:rPr>
              <a:t>Our Contribution</a:t>
            </a:r>
            <a:endParaRPr lang="en-US" sz="1600" dirty="0"/>
          </a:p>
        </p:txBody>
      </p:sp>
      <p:sp>
        <p:nvSpPr>
          <p:cNvPr id="14" name="Text 8"/>
          <p:cNvSpPr/>
          <p:nvPr/>
        </p:nvSpPr>
        <p:spPr>
          <a:xfrm>
            <a:off x="5121250" y="3285902"/>
            <a:ext cx="3526631" cy="736997"/>
          </a:xfrm>
          <a:prstGeom prst="rect">
            <a:avLst/>
          </a:prstGeom>
          <a:noFill/>
        </p:spPr>
        <p:txBody>
          <a:bodyPr wrap="square" lIns="0" tIns="0" rIns="0" bIns="0" rtlCol="0" anchor="t">
            <a:normAutofit/>
          </a:bodyPr>
          <a:lstStyle/>
          <a:p>
            <a:pPr marL="0" indent="0" algn="l">
              <a:lnSpc>
                <a:spcPct val="108000"/>
              </a:lnSpc>
              <a:buNone/>
            </a:pPr>
            <a:r>
              <a:rPr lang="en-US" sz="1100" b="1" dirty="0">
                <a:solidFill>
                  <a:srgbClr val="67534F"/>
                </a:solidFill>
                <a:latin typeface="Montserrat Bold" pitchFamily="34" charset="0"/>
                <a:ea typeface="Montserrat Bold" pitchFamily="34" charset="-122"/>
                <a:cs typeface="Montserrat Bold" pitchFamily="34" charset="-120"/>
              </a:rPr>
              <a:t>First unified system</a:t>
            </a:r>
            <a:r>
              <a:rPr lang="en-US" sz="1100" dirty="0">
                <a:solidFill>
                  <a:srgbClr val="67534F"/>
                </a:solidFill>
                <a:latin typeface="Montserrat" pitchFamily="34" charset="0"/>
                <a:ea typeface="Montserrat" pitchFamily="34" charset="-122"/>
                <a:cs typeface="Montserrat" pitchFamily="34" charset="-120"/>
              </a:rPr>
              <a:t> combining all seven capabilities—multimodal perception, contextual memory, task planning, and safety-aware reasoning—in real-time HRI</a:t>
            </a:r>
            <a:endParaRPr lang="en-US" sz="1100" dirty="0"/>
          </a:p>
        </p:txBody>
      </p:sp>
      <p:pic>
        <p:nvPicPr>
          <p:cNvPr id="15" name="Picture 14" descr="Screenshot 2026-08-05 192041"/>
          <p:cNvPicPr>
            <a:picLocks noChangeAspect="1"/>
          </p:cNvPicPr>
          <p:nvPr/>
        </p:nvPicPr>
        <p:blipFill>
          <a:blip r:embed="rId3"/>
          <a:stretch>
            <a:fillRect/>
          </a:stretch>
        </p:blipFill>
        <p:spPr>
          <a:xfrm>
            <a:off x="7520940" y="4797425"/>
            <a:ext cx="1623060" cy="2819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26021"/>
            <a:ext cx="8151763" cy="894011"/>
          </a:xfrm>
          <a:prstGeom prst="rect">
            <a:avLst/>
          </a:prstGeom>
          <a:noFill/>
        </p:spPr>
        <p:txBody>
          <a:bodyPr wrap="square" lIns="0" tIns="0" rIns="0" bIns="0" rtlCol="0" anchor="t">
            <a:normAutofit/>
          </a:bodyPr>
          <a:lstStyle/>
          <a:p>
            <a:pPr marL="0" indent="0" algn="l">
              <a:lnSpc>
                <a:spcPct val="108000"/>
              </a:lnSpc>
              <a:buNone/>
            </a:pPr>
            <a:r>
              <a:rPr lang="en-US" sz="2700" kern="0" spc="-27" dirty="0">
                <a:solidFill>
                  <a:srgbClr val="532418"/>
                </a:solidFill>
                <a:latin typeface="Marcellus" panose="020E0602050203020307" pitchFamily="34" charset="0"/>
                <a:ea typeface="Marcellus" panose="020E0602050203020307" pitchFamily="34" charset="-122"/>
                <a:cs typeface="Marcellus" panose="020E0602050203020307" pitchFamily="34" charset="-120"/>
              </a:rPr>
              <a:t>Technical Implementation: Feasible Within Constraints</a:t>
            </a:r>
            <a:endParaRPr lang="en-US" sz="2700" dirty="0"/>
          </a:p>
        </p:txBody>
      </p:sp>
      <p:sp>
        <p:nvSpPr>
          <p:cNvPr id="3" name="Text 1"/>
          <p:cNvSpPr/>
          <p:nvPr/>
        </p:nvSpPr>
        <p:spPr>
          <a:xfrm>
            <a:off x="496119" y="1572295"/>
            <a:ext cx="2663354" cy="223540"/>
          </a:xfrm>
          <a:prstGeom prst="rect">
            <a:avLst/>
          </a:prstGeom>
          <a:noFill/>
        </p:spPr>
        <p:txBody>
          <a:bodyPr wrap="none" lIns="0" tIns="0" rIns="0" bIns="0" rtlCol="0" anchor="t"/>
          <a:lstStyle/>
          <a:p>
            <a:pPr marL="0" indent="0" algn="l">
              <a:lnSpc>
                <a:spcPct val="108000"/>
              </a:lnSpc>
              <a:buNone/>
            </a:pPr>
            <a:r>
              <a:rPr lang="en-US" sz="1350" kern="0" spc="-14" dirty="0">
                <a:solidFill>
                  <a:srgbClr val="532418"/>
                </a:solidFill>
                <a:latin typeface="Marcellus" panose="020E0602050203020307" pitchFamily="34" charset="0"/>
                <a:ea typeface="Marcellus" panose="020E0602050203020307" pitchFamily="34" charset="-122"/>
                <a:cs typeface="Marcellus" panose="020E0602050203020307" pitchFamily="34" charset="-120"/>
              </a:rPr>
              <a:t>Models &amp; Stack</a:t>
            </a:r>
            <a:endParaRPr lang="en-US" sz="1350" dirty="0"/>
          </a:p>
        </p:txBody>
      </p:sp>
      <p:sp>
        <p:nvSpPr>
          <p:cNvPr id="4" name="Shape 2"/>
          <p:cNvSpPr/>
          <p:nvPr/>
        </p:nvSpPr>
        <p:spPr>
          <a:xfrm>
            <a:off x="496119" y="1909316"/>
            <a:ext cx="2663354" cy="878681"/>
          </a:xfrm>
          <a:prstGeom prst="roundRect">
            <a:avLst>
              <a:gd name="adj" fmla="val 5718"/>
            </a:avLst>
          </a:prstGeom>
          <a:solidFill>
            <a:srgbClr val="FFFFF4">
              <a:alpha val="95000"/>
            </a:srgbClr>
          </a:solidFill>
          <a:ln w="14288">
            <a:solidFill>
              <a:srgbClr val="FFE0CC"/>
            </a:solidFill>
            <a:prstDash val="solid"/>
          </a:ln>
        </p:spPr>
      </p:sp>
      <p:sp>
        <p:nvSpPr>
          <p:cNvPr id="5" name="Text 3"/>
          <p:cNvSpPr/>
          <p:nvPr/>
        </p:nvSpPr>
        <p:spPr>
          <a:xfrm>
            <a:off x="629989" y="2043187"/>
            <a:ext cx="2395612" cy="223540"/>
          </a:xfrm>
          <a:prstGeom prst="rect">
            <a:avLst/>
          </a:prstGeom>
          <a:noFill/>
        </p:spPr>
        <p:txBody>
          <a:bodyPr wrap="none" lIns="0" tIns="0" rIns="0" bIns="0" rtlCol="0" anchor="t"/>
          <a:lstStyle/>
          <a:p>
            <a:pPr marL="0" indent="0" algn="l">
              <a:lnSpc>
                <a:spcPct val="108000"/>
              </a:lnSpc>
              <a:buNone/>
            </a:pPr>
            <a:r>
              <a:rPr lang="en-US" sz="135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Perception Models</a:t>
            </a:r>
            <a:endParaRPr lang="en-US" sz="1350" dirty="0"/>
          </a:p>
        </p:txBody>
      </p:sp>
      <p:sp>
        <p:nvSpPr>
          <p:cNvPr id="6" name="Text 4"/>
          <p:cNvSpPr/>
          <p:nvPr/>
        </p:nvSpPr>
        <p:spPr>
          <a:xfrm>
            <a:off x="629989" y="2367632"/>
            <a:ext cx="2395612" cy="286494"/>
          </a:xfrm>
          <a:prstGeom prst="rect">
            <a:avLst/>
          </a:prstGeom>
          <a:noFill/>
        </p:spPr>
        <p:txBody>
          <a:bodyPr wrap="square" lIns="0" tIns="0" rIns="0" bIns="0" rtlCol="0" anchor="t">
            <a:normAutofit/>
          </a:bodyPr>
          <a:lstStyle/>
          <a:p>
            <a:pPr marL="0" indent="0" algn="l">
              <a:lnSpc>
                <a:spcPct val="100000"/>
              </a:lnSpc>
              <a:buNone/>
            </a:pPr>
            <a:r>
              <a:rPr lang="en-US" sz="900" b="1" dirty="0">
                <a:solidFill>
                  <a:srgbClr val="67534F"/>
                </a:solidFill>
                <a:latin typeface="Montserrat Bold" pitchFamily="34" charset="0"/>
                <a:ea typeface="Montserrat Bold" pitchFamily="34" charset="-122"/>
                <a:cs typeface="Montserrat Bold" pitchFamily="34" charset="-120"/>
              </a:rPr>
              <a:t>Whisper-small</a:t>
            </a:r>
            <a:r>
              <a:rPr lang="en-US" sz="900" dirty="0">
                <a:solidFill>
                  <a:srgbClr val="67534F"/>
                </a:solidFill>
                <a:latin typeface="Montserrat" pitchFamily="34" charset="0"/>
                <a:ea typeface="Montserrat" pitchFamily="34" charset="-122"/>
                <a:cs typeface="Montserrat" pitchFamily="34" charset="-120"/>
              </a:rPr>
              <a:t> · MediaPipe · </a:t>
            </a:r>
            <a:r>
              <a:rPr lang="en-US" sz="900" b="1" dirty="0">
                <a:solidFill>
                  <a:srgbClr val="67534F"/>
                </a:solidFill>
                <a:latin typeface="Montserrat Bold" pitchFamily="34" charset="0"/>
                <a:ea typeface="Montserrat Bold" pitchFamily="34" charset="-122"/>
                <a:cs typeface="Montserrat Bold" pitchFamily="34" charset="-120"/>
              </a:rPr>
              <a:t>YOLOv8</a:t>
            </a:r>
            <a:r>
              <a:rPr lang="en-US" sz="900" dirty="0">
                <a:solidFill>
                  <a:srgbClr val="67534F"/>
                </a:solidFill>
                <a:latin typeface="Montserrat" pitchFamily="34" charset="0"/>
                <a:ea typeface="Montserrat" pitchFamily="34" charset="-122"/>
                <a:cs typeface="Montserrat" pitchFamily="34" charset="-120"/>
              </a:rPr>
              <a:t> — lightweight for real-time inference</a:t>
            </a:r>
            <a:endParaRPr lang="en-US" sz="900" dirty="0"/>
          </a:p>
        </p:txBody>
      </p:sp>
      <p:sp>
        <p:nvSpPr>
          <p:cNvPr id="7" name="Shape 5"/>
          <p:cNvSpPr/>
          <p:nvPr/>
        </p:nvSpPr>
        <p:spPr>
          <a:xfrm>
            <a:off x="496119" y="2888903"/>
            <a:ext cx="2663354" cy="735434"/>
          </a:xfrm>
          <a:prstGeom prst="roundRect">
            <a:avLst>
              <a:gd name="adj" fmla="val 6831"/>
            </a:avLst>
          </a:prstGeom>
          <a:solidFill>
            <a:srgbClr val="FFFFF4">
              <a:alpha val="95000"/>
            </a:srgbClr>
          </a:solidFill>
          <a:ln w="14288">
            <a:solidFill>
              <a:srgbClr val="FFE0CC"/>
            </a:solidFill>
            <a:prstDash val="solid"/>
          </a:ln>
        </p:spPr>
      </p:sp>
      <p:sp>
        <p:nvSpPr>
          <p:cNvPr id="8" name="Text 6"/>
          <p:cNvSpPr/>
          <p:nvPr/>
        </p:nvSpPr>
        <p:spPr>
          <a:xfrm>
            <a:off x="629989" y="3022774"/>
            <a:ext cx="2395612" cy="223540"/>
          </a:xfrm>
          <a:prstGeom prst="rect">
            <a:avLst/>
          </a:prstGeom>
          <a:noFill/>
        </p:spPr>
        <p:txBody>
          <a:bodyPr wrap="none" lIns="0" tIns="0" rIns="0" bIns="0" rtlCol="0" anchor="t"/>
          <a:lstStyle/>
          <a:p>
            <a:pPr marL="0" indent="0" algn="l">
              <a:lnSpc>
                <a:spcPct val="108000"/>
              </a:lnSpc>
              <a:buNone/>
            </a:pPr>
            <a:r>
              <a:rPr lang="en-US" sz="135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Software Stack</a:t>
            </a:r>
            <a:endParaRPr lang="en-US" sz="1350" dirty="0"/>
          </a:p>
        </p:txBody>
      </p:sp>
      <p:sp>
        <p:nvSpPr>
          <p:cNvPr id="9" name="Text 7"/>
          <p:cNvSpPr/>
          <p:nvPr/>
        </p:nvSpPr>
        <p:spPr>
          <a:xfrm>
            <a:off x="629989" y="3347219"/>
            <a:ext cx="2395612" cy="143247"/>
          </a:xfrm>
          <a:prstGeom prst="rect">
            <a:avLst/>
          </a:prstGeom>
          <a:noFill/>
        </p:spPr>
        <p:txBody>
          <a:bodyPr wrap="none" lIns="0" tIns="0" rIns="0" bIns="0" rtlCol="0" anchor="t"/>
          <a:lstStyle/>
          <a:p>
            <a:pPr marL="0" indent="0" algn="l">
              <a:lnSpc>
                <a:spcPct val="100000"/>
              </a:lnSpc>
              <a:buNone/>
            </a:pPr>
            <a:r>
              <a:rPr lang="en-US" sz="900" dirty="0">
                <a:solidFill>
                  <a:srgbClr val="67534F"/>
                </a:solidFill>
                <a:latin typeface="Montserrat" pitchFamily="34" charset="0"/>
                <a:ea typeface="Montserrat" pitchFamily="34" charset="-122"/>
                <a:cs typeface="Montserrat" pitchFamily="34" charset="-120"/>
              </a:rPr>
              <a:t>Python · PyTorch · </a:t>
            </a:r>
            <a:r>
              <a:rPr lang="en-US" sz="900" b="1" dirty="0">
                <a:solidFill>
                  <a:srgbClr val="67534F"/>
                </a:solidFill>
                <a:latin typeface="Montserrat Bold" pitchFamily="34" charset="0"/>
                <a:ea typeface="Montserrat Bold" pitchFamily="34" charset="-122"/>
                <a:cs typeface="Montserrat Bold" pitchFamily="34" charset="-120"/>
              </a:rPr>
              <a:t>ROS2</a:t>
            </a:r>
            <a:r>
              <a:rPr lang="en-US" sz="900" dirty="0">
                <a:solidFill>
                  <a:srgbClr val="67534F"/>
                </a:solidFill>
                <a:latin typeface="Montserrat" pitchFamily="34" charset="0"/>
                <a:ea typeface="Montserrat" pitchFamily="34" charset="-122"/>
                <a:cs typeface="Montserrat" pitchFamily="34" charset="-120"/>
              </a:rPr>
              <a:t> · OpenCV</a:t>
            </a:r>
            <a:endParaRPr lang="en-US" sz="900" dirty="0"/>
          </a:p>
        </p:txBody>
      </p:sp>
      <p:sp>
        <p:nvSpPr>
          <p:cNvPr id="10" name="Shape 8"/>
          <p:cNvSpPr/>
          <p:nvPr/>
        </p:nvSpPr>
        <p:spPr>
          <a:xfrm>
            <a:off x="496119" y="3725242"/>
            <a:ext cx="2663354" cy="878681"/>
          </a:xfrm>
          <a:prstGeom prst="roundRect">
            <a:avLst>
              <a:gd name="adj" fmla="val 5718"/>
            </a:avLst>
          </a:prstGeom>
          <a:solidFill>
            <a:srgbClr val="FFFFF4">
              <a:alpha val="95000"/>
            </a:srgbClr>
          </a:solidFill>
          <a:ln w="14288">
            <a:solidFill>
              <a:srgbClr val="FFE0CC"/>
            </a:solidFill>
            <a:prstDash val="solid"/>
          </a:ln>
        </p:spPr>
      </p:sp>
      <p:sp>
        <p:nvSpPr>
          <p:cNvPr id="11" name="Text 9"/>
          <p:cNvSpPr/>
          <p:nvPr/>
        </p:nvSpPr>
        <p:spPr>
          <a:xfrm>
            <a:off x="629989" y="3859113"/>
            <a:ext cx="2395612" cy="223540"/>
          </a:xfrm>
          <a:prstGeom prst="rect">
            <a:avLst/>
          </a:prstGeom>
          <a:noFill/>
        </p:spPr>
        <p:txBody>
          <a:bodyPr wrap="none" lIns="0" tIns="0" rIns="0" bIns="0" rtlCol="0" anchor="t"/>
          <a:lstStyle/>
          <a:p>
            <a:pPr marL="0" indent="0" algn="l">
              <a:lnSpc>
                <a:spcPct val="108000"/>
              </a:lnSpc>
              <a:buNone/>
            </a:pPr>
            <a:r>
              <a:rPr lang="en-US" sz="135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Hardware</a:t>
            </a:r>
            <a:endParaRPr lang="en-US" sz="1350" dirty="0"/>
          </a:p>
        </p:txBody>
      </p:sp>
      <p:sp>
        <p:nvSpPr>
          <p:cNvPr id="12" name="Text 10"/>
          <p:cNvSpPr/>
          <p:nvPr/>
        </p:nvSpPr>
        <p:spPr>
          <a:xfrm>
            <a:off x="629989" y="4183559"/>
            <a:ext cx="2395612" cy="286494"/>
          </a:xfrm>
          <a:prstGeom prst="rect">
            <a:avLst/>
          </a:prstGeom>
          <a:noFill/>
        </p:spPr>
        <p:txBody>
          <a:bodyPr wrap="square" lIns="0" tIns="0" rIns="0" bIns="0" rtlCol="0" anchor="t">
            <a:normAutofit/>
          </a:bodyPr>
          <a:lstStyle/>
          <a:p>
            <a:pPr marL="0" indent="0" algn="l">
              <a:lnSpc>
                <a:spcPct val="100000"/>
              </a:lnSpc>
              <a:buNone/>
            </a:pPr>
            <a:r>
              <a:rPr lang="en-US" sz="900" dirty="0">
                <a:solidFill>
                  <a:srgbClr val="67534F"/>
                </a:solidFill>
                <a:latin typeface="Montserrat" pitchFamily="34" charset="0"/>
                <a:ea typeface="Montserrat" pitchFamily="34" charset="-122"/>
                <a:cs typeface="Montserrat" pitchFamily="34" charset="-120"/>
              </a:rPr>
              <a:t>Intel i7 + </a:t>
            </a:r>
            <a:r>
              <a:rPr lang="en-US" sz="900" b="1" dirty="0">
                <a:solidFill>
                  <a:srgbClr val="67534F"/>
                </a:solidFill>
                <a:latin typeface="Montserrat Bold" pitchFamily="34" charset="0"/>
                <a:ea typeface="Montserrat Bold" pitchFamily="34" charset="-122"/>
                <a:cs typeface="Montserrat Bold" pitchFamily="34" charset="-120"/>
              </a:rPr>
              <a:t>RTX 4060 GPU</a:t>
            </a:r>
            <a:r>
              <a:rPr lang="en-US" sz="900" dirty="0">
                <a:solidFill>
                  <a:srgbClr val="67534F"/>
                </a:solidFill>
                <a:latin typeface="Montserrat" pitchFamily="34" charset="0"/>
                <a:ea typeface="Montserrat" pitchFamily="34" charset="-122"/>
                <a:cs typeface="Montserrat" pitchFamily="34" charset="-120"/>
              </a:rPr>
              <a:t> — optimized for on-device inference</a:t>
            </a:r>
            <a:endParaRPr lang="en-US" sz="900" dirty="0"/>
          </a:p>
        </p:txBody>
      </p:sp>
      <p:sp>
        <p:nvSpPr>
          <p:cNvPr id="13" name="Text 11"/>
          <p:cNvSpPr/>
          <p:nvPr/>
        </p:nvSpPr>
        <p:spPr>
          <a:xfrm>
            <a:off x="3456087" y="1750368"/>
            <a:ext cx="5196483" cy="223540"/>
          </a:xfrm>
          <a:prstGeom prst="rect">
            <a:avLst/>
          </a:prstGeom>
          <a:noFill/>
        </p:spPr>
        <p:txBody>
          <a:bodyPr wrap="none" lIns="0" tIns="0" rIns="0" bIns="0" rtlCol="0" anchor="t"/>
          <a:lstStyle/>
          <a:p>
            <a:pPr marL="0" indent="0" algn="l">
              <a:lnSpc>
                <a:spcPct val="108000"/>
              </a:lnSpc>
              <a:buNone/>
            </a:pPr>
            <a:r>
              <a:rPr lang="en-US" sz="1350" kern="0" spc="-14" dirty="0">
                <a:solidFill>
                  <a:srgbClr val="532418"/>
                </a:solidFill>
                <a:latin typeface="Marcellus" panose="020E0602050203020307" pitchFamily="34" charset="0"/>
                <a:ea typeface="Marcellus" panose="020E0602050203020307" pitchFamily="34" charset="-122"/>
                <a:cs typeface="Marcellus" panose="020E0602050203020307" pitchFamily="34" charset="-120"/>
              </a:rPr>
              <a:t>Development Timeline</a:t>
            </a:r>
            <a:endParaRPr lang="en-US" sz="1350" dirty="0"/>
          </a:p>
        </p:txBody>
      </p:sp>
      <p:pic>
        <p:nvPicPr>
          <p:cNvPr id="14" name="Image 0" descr="preencoded.png"/>
          <p:cNvPicPr>
            <a:picLocks noChangeAspect="1"/>
          </p:cNvPicPr>
          <p:nvPr/>
        </p:nvPicPr>
        <p:blipFill>
          <a:blip r:embed="rId1"/>
          <a:stretch>
            <a:fillRect/>
          </a:stretch>
        </p:blipFill>
        <p:spPr>
          <a:xfrm>
            <a:off x="3456087" y="2087389"/>
            <a:ext cx="5196483" cy="2338388"/>
          </a:xfrm>
          <a:prstGeom prst="rect">
            <a:avLst/>
          </a:prstGeom>
        </p:spPr>
      </p:pic>
      <p:sp>
        <p:nvSpPr>
          <p:cNvPr id="15" name="Text 12"/>
          <p:cNvSpPr/>
          <p:nvPr/>
        </p:nvSpPr>
        <p:spPr>
          <a:xfrm>
            <a:off x="4238861" y="2179591"/>
            <a:ext cx="909373" cy="168009"/>
          </a:xfrm>
          <a:prstGeom prst="rect">
            <a:avLst/>
          </a:prstGeom>
          <a:noFill/>
        </p:spPr>
        <p:txBody>
          <a:bodyPr wrap="none" lIns="0" tIns="0" rIns="0" bIns="0" rtlCol="0" anchor="t"/>
          <a:lstStyle/>
          <a:p>
            <a:pPr marL="0" indent="0" algn="ctr">
              <a:lnSpc>
                <a:spcPct val="108000"/>
              </a:lnSpc>
              <a:buNone/>
            </a:pPr>
            <a:r>
              <a:rPr lang="en-US" sz="1000" kern="0" spc="-10" dirty="0">
                <a:solidFill>
                  <a:srgbClr val="67534F"/>
                </a:solidFill>
                <a:latin typeface="Marcellus" panose="020E0602050203020307" pitchFamily="34" charset="0"/>
                <a:ea typeface="Marcellus" panose="020E0602050203020307" pitchFamily="34" charset="-122"/>
                <a:cs typeface="Marcellus" panose="020E0602050203020307" pitchFamily="34" charset="-120"/>
              </a:rPr>
              <a:t>Data Prep</a:t>
            </a:r>
            <a:endParaRPr lang="en-US" sz="1000" dirty="0"/>
          </a:p>
        </p:txBody>
      </p:sp>
      <p:sp>
        <p:nvSpPr>
          <p:cNvPr id="16" name="Text 13"/>
          <p:cNvSpPr/>
          <p:nvPr/>
        </p:nvSpPr>
        <p:spPr>
          <a:xfrm>
            <a:off x="4238861" y="2387572"/>
            <a:ext cx="909373" cy="207201"/>
          </a:xfrm>
          <a:prstGeom prst="rect">
            <a:avLst/>
          </a:prstGeom>
          <a:noFill/>
        </p:spPr>
        <p:txBody>
          <a:bodyPr wrap="square" lIns="0" tIns="0" rIns="0" bIns="0" rtlCol="0" anchor="t">
            <a:normAutofit lnSpcReduction="10000"/>
          </a:bodyPr>
          <a:lstStyle/>
          <a:p>
            <a:pPr marL="0" indent="0" algn="ctr">
              <a:lnSpc>
                <a:spcPct val="96000"/>
              </a:lnSpc>
              <a:buNone/>
            </a:pPr>
            <a:r>
              <a:rPr lang="en-US" sz="700" dirty="0">
                <a:solidFill>
                  <a:srgbClr val="67534F"/>
                </a:solidFill>
                <a:latin typeface="Montserrat" pitchFamily="34" charset="0"/>
                <a:ea typeface="Montserrat" pitchFamily="34" charset="-122"/>
                <a:cs typeface="Montserrat" pitchFamily="34" charset="-120"/>
              </a:rPr>
              <a:t>Weeks 1–2: clean and format datasets</a:t>
            </a:r>
            <a:endParaRPr lang="en-US" sz="700" dirty="0"/>
          </a:p>
        </p:txBody>
      </p:sp>
      <p:sp>
        <p:nvSpPr>
          <p:cNvPr id="17" name="Text 14"/>
          <p:cNvSpPr/>
          <p:nvPr/>
        </p:nvSpPr>
        <p:spPr>
          <a:xfrm>
            <a:off x="5138241" y="3933381"/>
            <a:ext cx="914370" cy="168009"/>
          </a:xfrm>
          <a:prstGeom prst="rect">
            <a:avLst/>
          </a:prstGeom>
          <a:noFill/>
        </p:spPr>
        <p:txBody>
          <a:bodyPr wrap="none" lIns="0" tIns="0" rIns="0" bIns="0" rtlCol="0" anchor="t"/>
          <a:lstStyle/>
          <a:p>
            <a:pPr marL="0" indent="0" algn="ctr">
              <a:lnSpc>
                <a:spcPct val="108000"/>
              </a:lnSpc>
              <a:buNone/>
            </a:pPr>
            <a:r>
              <a:rPr lang="en-US" sz="1000" kern="0" spc="-10" dirty="0">
                <a:solidFill>
                  <a:srgbClr val="67534F"/>
                </a:solidFill>
                <a:latin typeface="Marcellus" panose="020E0602050203020307" pitchFamily="34" charset="0"/>
                <a:ea typeface="Marcellus" panose="020E0602050203020307" pitchFamily="34" charset="-122"/>
                <a:cs typeface="Marcellus" panose="020E0602050203020307" pitchFamily="34" charset="-120"/>
              </a:rPr>
              <a:t>Integration</a:t>
            </a:r>
            <a:endParaRPr lang="en-US" sz="1000" dirty="0"/>
          </a:p>
        </p:txBody>
      </p:sp>
      <p:sp>
        <p:nvSpPr>
          <p:cNvPr id="18" name="Text 15"/>
          <p:cNvSpPr/>
          <p:nvPr/>
        </p:nvSpPr>
        <p:spPr>
          <a:xfrm>
            <a:off x="5138241" y="4141363"/>
            <a:ext cx="914370" cy="207201"/>
          </a:xfrm>
          <a:prstGeom prst="rect">
            <a:avLst/>
          </a:prstGeom>
          <a:noFill/>
        </p:spPr>
        <p:txBody>
          <a:bodyPr wrap="square" lIns="0" tIns="0" rIns="0" bIns="0" rtlCol="0" anchor="t">
            <a:normAutofit lnSpcReduction="10000"/>
          </a:bodyPr>
          <a:lstStyle/>
          <a:p>
            <a:pPr marL="0" indent="0" algn="ctr">
              <a:lnSpc>
                <a:spcPct val="96000"/>
              </a:lnSpc>
              <a:buNone/>
            </a:pPr>
            <a:r>
              <a:rPr lang="en-US" sz="700" dirty="0">
                <a:solidFill>
                  <a:srgbClr val="67534F"/>
                </a:solidFill>
                <a:latin typeface="Montserrat" pitchFamily="34" charset="0"/>
                <a:ea typeface="Montserrat" pitchFamily="34" charset="-122"/>
                <a:cs typeface="Montserrat" pitchFamily="34" charset="-120"/>
              </a:rPr>
              <a:t>Weeks 3–4: connect models and stack</a:t>
            </a:r>
            <a:endParaRPr lang="en-US" sz="700" dirty="0"/>
          </a:p>
        </p:txBody>
      </p:sp>
      <p:sp>
        <p:nvSpPr>
          <p:cNvPr id="19" name="Text 16"/>
          <p:cNvSpPr/>
          <p:nvPr/>
        </p:nvSpPr>
        <p:spPr>
          <a:xfrm>
            <a:off x="6027627" y="2162103"/>
            <a:ext cx="909374" cy="168009"/>
          </a:xfrm>
          <a:prstGeom prst="rect">
            <a:avLst/>
          </a:prstGeom>
          <a:noFill/>
        </p:spPr>
        <p:txBody>
          <a:bodyPr wrap="none" lIns="0" tIns="0" rIns="0" bIns="0" rtlCol="0" anchor="t"/>
          <a:lstStyle/>
          <a:p>
            <a:pPr marL="0" indent="0" algn="ctr">
              <a:lnSpc>
                <a:spcPct val="108000"/>
              </a:lnSpc>
              <a:buNone/>
            </a:pPr>
            <a:r>
              <a:rPr lang="en-US" sz="1000" kern="0" spc="-10" dirty="0">
                <a:solidFill>
                  <a:srgbClr val="67534F"/>
                </a:solidFill>
                <a:latin typeface="Marcellus" panose="020E0602050203020307" pitchFamily="34" charset="0"/>
                <a:ea typeface="Marcellus" panose="020E0602050203020307" pitchFamily="34" charset="-122"/>
                <a:cs typeface="Marcellus" panose="020E0602050203020307" pitchFamily="34" charset="-120"/>
              </a:rPr>
              <a:t>Framework</a:t>
            </a:r>
            <a:endParaRPr lang="en-US" sz="1000" dirty="0"/>
          </a:p>
        </p:txBody>
      </p:sp>
      <p:sp>
        <p:nvSpPr>
          <p:cNvPr id="20" name="Text 17"/>
          <p:cNvSpPr/>
          <p:nvPr/>
        </p:nvSpPr>
        <p:spPr>
          <a:xfrm>
            <a:off x="6027627" y="2370085"/>
            <a:ext cx="909374" cy="207201"/>
          </a:xfrm>
          <a:prstGeom prst="rect">
            <a:avLst/>
          </a:prstGeom>
          <a:noFill/>
        </p:spPr>
        <p:txBody>
          <a:bodyPr wrap="square" lIns="0" tIns="0" rIns="0" bIns="0" rtlCol="0" anchor="t">
            <a:normAutofit lnSpcReduction="10000"/>
          </a:bodyPr>
          <a:lstStyle/>
          <a:p>
            <a:pPr marL="0" indent="0" algn="ctr">
              <a:lnSpc>
                <a:spcPct val="96000"/>
              </a:lnSpc>
              <a:buNone/>
            </a:pPr>
            <a:r>
              <a:rPr lang="en-US" sz="700" dirty="0">
                <a:solidFill>
                  <a:srgbClr val="67534F"/>
                </a:solidFill>
                <a:latin typeface="Montserrat" pitchFamily="34" charset="0"/>
                <a:ea typeface="Montserrat" pitchFamily="34" charset="-122"/>
                <a:cs typeface="Montserrat" pitchFamily="34" charset="-120"/>
              </a:rPr>
              <a:t>Weeks 5–8: build lightweight pipeline</a:t>
            </a:r>
            <a:endParaRPr lang="en-US" sz="700" dirty="0"/>
          </a:p>
        </p:txBody>
      </p:sp>
      <p:sp>
        <p:nvSpPr>
          <p:cNvPr id="21" name="Text 18"/>
          <p:cNvSpPr/>
          <p:nvPr/>
        </p:nvSpPr>
        <p:spPr>
          <a:xfrm>
            <a:off x="6927007" y="3881620"/>
            <a:ext cx="909373" cy="168009"/>
          </a:xfrm>
          <a:prstGeom prst="rect">
            <a:avLst/>
          </a:prstGeom>
          <a:noFill/>
        </p:spPr>
        <p:txBody>
          <a:bodyPr wrap="none" lIns="0" tIns="0" rIns="0" bIns="0" rtlCol="0" anchor="t"/>
          <a:lstStyle/>
          <a:p>
            <a:pPr marL="0" indent="0" algn="ctr">
              <a:lnSpc>
                <a:spcPct val="108000"/>
              </a:lnSpc>
              <a:buNone/>
            </a:pPr>
            <a:r>
              <a:rPr lang="en-US" sz="1000" kern="0" spc="-10" dirty="0">
                <a:solidFill>
                  <a:srgbClr val="67534F"/>
                </a:solidFill>
                <a:latin typeface="Marcellus" panose="020E0602050203020307" pitchFamily="34" charset="0"/>
                <a:ea typeface="Marcellus" panose="020E0602050203020307" pitchFamily="34" charset="-122"/>
                <a:cs typeface="Marcellus" panose="020E0602050203020307" pitchFamily="34" charset="-120"/>
              </a:rPr>
              <a:t>Testing</a:t>
            </a:r>
            <a:endParaRPr lang="en-US" sz="1000" dirty="0"/>
          </a:p>
        </p:txBody>
      </p:sp>
      <p:sp>
        <p:nvSpPr>
          <p:cNvPr id="22" name="Text 19"/>
          <p:cNvSpPr/>
          <p:nvPr/>
        </p:nvSpPr>
        <p:spPr>
          <a:xfrm>
            <a:off x="6927007" y="4089602"/>
            <a:ext cx="909373" cy="310801"/>
          </a:xfrm>
          <a:prstGeom prst="rect">
            <a:avLst/>
          </a:prstGeom>
          <a:noFill/>
        </p:spPr>
        <p:txBody>
          <a:bodyPr wrap="square" lIns="0" tIns="0" rIns="0" bIns="0" rtlCol="0" anchor="t">
            <a:normAutofit lnSpcReduction="10000"/>
          </a:bodyPr>
          <a:lstStyle/>
          <a:p>
            <a:pPr marL="0" indent="0" algn="ctr">
              <a:lnSpc>
                <a:spcPct val="96000"/>
              </a:lnSpc>
              <a:buNone/>
            </a:pPr>
            <a:r>
              <a:rPr lang="en-US" sz="700" dirty="0">
                <a:solidFill>
                  <a:srgbClr val="67534F"/>
                </a:solidFill>
                <a:latin typeface="Montserrat" pitchFamily="34" charset="0"/>
                <a:ea typeface="Montserrat" pitchFamily="34" charset="-122"/>
                <a:cs typeface="Montserrat" pitchFamily="34" charset="-120"/>
              </a:rPr>
              <a:t>Weeks 9–10: evaluate and optimize</a:t>
            </a:r>
            <a:endParaRPr lang="en-US" sz="700" dirty="0"/>
          </a:p>
        </p:txBody>
      </p:sp>
      <p:pic>
        <p:nvPicPr>
          <p:cNvPr id="23" name="Picture 22" descr="Screenshot 2026-08-05 192041"/>
          <p:cNvPicPr>
            <a:picLocks noChangeAspect="1"/>
          </p:cNvPicPr>
          <p:nvPr/>
        </p:nvPicPr>
        <p:blipFill>
          <a:blip r:embed="rId2"/>
          <a:stretch>
            <a:fillRect/>
          </a:stretch>
        </p:blipFill>
        <p:spPr>
          <a:xfrm>
            <a:off x="7520940" y="4789805"/>
            <a:ext cx="1623060" cy="2819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32061"/>
            <a:ext cx="8151763" cy="529828"/>
          </a:xfrm>
          <a:prstGeom prst="rect">
            <a:avLst/>
          </a:prstGeom>
          <a:noFill/>
        </p:spPr>
        <p:txBody>
          <a:bodyPr wrap="none" lIns="0" tIns="0" rIns="0" bIns="0" rtlCol="0" anchor="t"/>
          <a:lstStyle/>
          <a:p>
            <a:pPr marL="0" indent="0" algn="l">
              <a:lnSpc>
                <a:spcPct val="108000"/>
              </a:lnSpc>
              <a:buNone/>
            </a:pPr>
            <a:r>
              <a:rPr lang="en-US" sz="3200" kern="0" spc="-32" dirty="0">
                <a:solidFill>
                  <a:srgbClr val="532418"/>
                </a:solidFill>
                <a:latin typeface="Marcellus" panose="020E0602050203020307" pitchFamily="34" charset="0"/>
                <a:ea typeface="Marcellus" panose="020E0602050203020307" pitchFamily="34" charset="-122"/>
                <a:cs typeface="Marcellus" panose="020E0602050203020307" pitchFamily="34" charset="-120"/>
              </a:rPr>
              <a:t>Validation &amp; Next Steps</a:t>
            </a:r>
            <a:endParaRPr lang="en-US" sz="3200" dirty="0"/>
          </a:p>
        </p:txBody>
      </p:sp>
      <p:sp>
        <p:nvSpPr>
          <p:cNvPr id="3" name="Shape 1"/>
          <p:cNvSpPr/>
          <p:nvPr/>
        </p:nvSpPr>
        <p:spPr>
          <a:xfrm>
            <a:off x="496119" y="1274490"/>
            <a:ext cx="4004965" cy="1597596"/>
          </a:xfrm>
          <a:prstGeom prst="roundRect">
            <a:avLst>
              <a:gd name="adj" fmla="val 3727"/>
            </a:avLst>
          </a:prstGeom>
          <a:solidFill>
            <a:srgbClr val="FFFFF4"/>
          </a:solidFill>
          <a:ln w="14288">
            <a:solidFill>
              <a:srgbClr val="FFE0CC"/>
            </a:solidFill>
            <a:prstDash val="solid"/>
          </a:ln>
        </p:spPr>
      </p:sp>
      <p:sp>
        <p:nvSpPr>
          <p:cNvPr id="4" name="Shape 2"/>
          <p:cNvSpPr/>
          <p:nvPr/>
        </p:nvSpPr>
        <p:spPr>
          <a:xfrm>
            <a:off x="652165" y="1430536"/>
            <a:ext cx="425276" cy="425276"/>
          </a:xfrm>
          <a:prstGeom prst="ellipse">
            <a:avLst/>
          </a:prstGeom>
          <a:solidFill>
            <a:srgbClr val="FF954F"/>
          </a:solidFill>
        </p:spPr>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9144" y="1547515"/>
            <a:ext cx="191319" cy="191319"/>
          </a:xfrm>
          <a:prstGeom prst="rect">
            <a:avLst/>
          </a:prstGeom>
        </p:spPr>
      </p:pic>
      <p:sp>
        <p:nvSpPr>
          <p:cNvPr id="6" name="Text 3"/>
          <p:cNvSpPr/>
          <p:nvPr/>
        </p:nvSpPr>
        <p:spPr>
          <a:xfrm>
            <a:off x="652165" y="1997571"/>
            <a:ext cx="3692872"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Datasets</a:t>
            </a:r>
            <a:endParaRPr lang="en-US" sz="1600" dirty="0"/>
          </a:p>
        </p:txBody>
      </p:sp>
      <p:sp>
        <p:nvSpPr>
          <p:cNvPr id="7" name="Text 4"/>
          <p:cNvSpPr/>
          <p:nvPr/>
        </p:nvSpPr>
        <p:spPr>
          <a:xfrm>
            <a:off x="652165" y="2347540"/>
            <a:ext cx="3692872" cy="368498"/>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Mozilla Common Voice · HaGRID · COCO · custom multimodal samples</a:t>
            </a:r>
            <a:endParaRPr lang="en-US" sz="1100" dirty="0"/>
          </a:p>
        </p:txBody>
      </p:sp>
      <p:sp>
        <p:nvSpPr>
          <p:cNvPr id="8" name="Shape 5"/>
          <p:cNvSpPr/>
          <p:nvPr/>
        </p:nvSpPr>
        <p:spPr>
          <a:xfrm>
            <a:off x="4642842" y="1274490"/>
            <a:ext cx="4005039" cy="1597596"/>
          </a:xfrm>
          <a:prstGeom prst="roundRect">
            <a:avLst>
              <a:gd name="adj" fmla="val 3727"/>
            </a:avLst>
          </a:prstGeom>
          <a:solidFill>
            <a:srgbClr val="FFFFF4"/>
          </a:solidFill>
          <a:ln w="14288">
            <a:solidFill>
              <a:srgbClr val="FFE0CC"/>
            </a:solidFill>
            <a:prstDash val="solid"/>
          </a:ln>
        </p:spPr>
      </p:sp>
      <p:sp>
        <p:nvSpPr>
          <p:cNvPr id="9" name="Shape 6"/>
          <p:cNvSpPr/>
          <p:nvPr/>
        </p:nvSpPr>
        <p:spPr>
          <a:xfrm>
            <a:off x="4798888" y="1430536"/>
            <a:ext cx="425276" cy="425276"/>
          </a:xfrm>
          <a:prstGeom prst="ellipse">
            <a:avLst/>
          </a:prstGeom>
          <a:solidFill>
            <a:srgbClr val="FF954F"/>
          </a:solidFill>
        </p:spPr>
      </p:sp>
      <p:pic>
        <p:nvPicPr>
          <p:cNvPr id="10"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15867" y="1547515"/>
            <a:ext cx="191319" cy="191319"/>
          </a:xfrm>
          <a:prstGeom prst="rect">
            <a:avLst/>
          </a:prstGeom>
        </p:spPr>
      </p:pic>
      <p:sp>
        <p:nvSpPr>
          <p:cNvPr id="11" name="Text 7"/>
          <p:cNvSpPr/>
          <p:nvPr/>
        </p:nvSpPr>
        <p:spPr>
          <a:xfrm>
            <a:off x="4798888" y="1997571"/>
            <a:ext cx="3692947"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Baselines</a:t>
            </a:r>
            <a:endParaRPr lang="en-US" sz="1600" dirty="0"/>
          </a:p>
        </p:txBody>
      </p:sp>
      <p:sp>
        <p:nvSpPr>
          <p:cNvPr id="12" name="Text 8"/>
          <p:cNvSpPr/>
          <p:nvPr/>
        </p:nvSpPr>
        <p:spPr>
          <a:xfrm>
            <a:off x="4798888" y="2347540"/>
            <a:ext cx="3692947" cy="368498"/>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Voice-only · gesture-only · vision-only · multimodal without safety layer</a:t>
            </a:r>
            <a:endParaRPr lang="en-US" sz="1100" dirty="0"/>
          </a:p>
        </p:txBody>
      </p:sp>
      <p:sp>
        <p:nvSpPr>
          <p:cNvPr id="13" name="Shape 9"/>
          <p:cNvSpPr/>
          <p:nvPr/>
        </p:nvSpPr>
        <p:spPr>
          <a:xfrm>
            <a:off x="496119" y="3013844"/>
            <a:ext cx="4004965" cy="1597596"/>
          </a:xfrm>
          <a:prstGeom prst="roundRect">
            <a:avLst>
              <a:gd name="adj" fmla="val 3727"/>
            </a:avLst>
          </a:prstGeom>
          <a:solidFill>
            <a:srgbClr val="FFFFF4"/>
          </a:solidFill>
          <a:ln w="14288">
            <a:solidFill>
              <a:srgbClr val="FFE0CC"/>
            </a:solidFill>
            <a:prstDash val="solid"/>
          </a:ln>
        </p:spPr>
      </p:sp>
      <p:sp>
        <p:nvSpPr>
          <p:cNvPr id="14" name="Shape 10"/>
          <p:cNvSpPr/>
          <p:nvPr/>
        </p:nvSpPr>
        <p:spPr>
          <a:xfrm>
            <a:off x="652165" y="3169890"/>
            <a:ext cx="425276" cy="425276"/>
          </a:xfrm>
          <a:prstGeom prst="ellipse">
            <a:avLst/>
          </a:prstGeom>
          <a:solidFill>
            <a:srgbClr val="FF954F"/>
          </a:solidFill>
        </p:spPr>
      </p:sp>
      <p:pic>
        <p:nvPicPr>
          <p:cNvPr id="15"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9144" y="3286869"/>
            <a:ext cx="191319" cy="191319"/>
          </a:xfrm>
          <a:prstGeom prst="rect">
            <a:avLst/>
          </a:prstGeom>
        </p:spPr>
      </p:pic>
      <p:sp>
        <p:nvSpPr>
          <p:cNvPr id="16" name="Text 11"/>
          <p:cNvSpPr/>
          <p:nvPr/>
        </p:nvSpPr>
        <p:spPr>
          <a:xfrm>
            <a:off x="652165" y="3736925"/>
            <a:ext cx="3692872"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Metrics</a:t>
            </a:r>
            <a:endParaRPr lang="en-US" sz="1600" dirty="0"/>
          </a:p>
        </p:txBody>
      </p:sp>
      <p:sp>
        <p:nvSpPr>
          <p:cNvPr id="17" name="Text 12"/>
          <p:cNvSpPr/>
          <p:nvPr/>
        </p:nvSpPr>
        <p:spPr>
          <a:xfrm>
            <a:off x="652165" y="4086895"/>
            <a:ext cx="3692872" cy="368498"/>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Intent accuracy · task completion rate · latency · safety violation rate</a:t>
            </a:r>
            <a:endParaRPr lang="en-US" sz="1100" dirty="0"/>
          </a:p>
        </p:txBody>
      </p:sp>
      <p:sp>
        <p:nvSpPr>
          <p:cNvPr id="18" name="Shape 13"/>
          <p:cNvSpPr/>
          <p:nvPr/>
        </p:nvSpPr>
        <p:spPr>
          <a:xfrm>
            <a:off x="4642842" y="3013844"/>
            <a:ext cx="4005039" cy="1597596"/>
          </a:xfrm>
          <a:prstGeom prst="roundRect">
            <a:avLst>
              <a:gd name="adj" fmla="val 3727"/>
            </a:avLst>
          </a:prstGeom>
          <a:solidFill>
            <a:srgbClr val="FFFFF4"/>
          </a:solidFill>
          <a:ln w="14288">
            <a:solidFill>
              <a:srgbClr val="FFE0CC"/>
            </a:solidFill>
            <a:prstDash val="solid"/>
          </a:ln>
        </p:spPr>
      </p:sp>
      <p:sp>
        <p:nvSpPr>
          <p:cNvPr id="19" name="Shape 14"/>
          <p:cNvSpPr/>
          <p:nvPr/>
        </p:nvSpPr>
        <p:spPr>
          <a:xfrm>
            <a:off x="4798888" y="3169890"/>
            <a:ext cx="425276" cy="425276"/>
          </a:xfrm>
          <a:prstGeom prst="ellipse">
            <a:avLst/>
          </a:prstGeom>
          <a:solidFill>
            <a:srgbClr val="FF954F"/>
          </a:solidFill>
        </p:spPr>
      </p:sp>
      <p:pic>
        <p:nvPicPr>
          <p:cNvPr id="2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15867" y="3286869"/>
            <a:ext cx="191319" cy="191319"/>
          </a:xfrm>
          <a:prstGeom prst="rect">
            <a:avLst/>
          </a:prstGeom>
        </p:spPr>
      </p:pic>
      <p:sp>
        <p:nvSpPr>
          <p:cNvPr id="21" name="Text 15"/>
          <p:cNvSpPr/>
          <p:nvPr/>
        </p:nvSpPr>
        <p:spPr>
          <a:xfrm>
            <a:off x="4798888" y="3736925"/>
            <a:ext cx="3692947"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67534F"/>
                </a:solidFill>
                <a:latin typeface="Marcellus" panose="020E0602050203020307" pitchFamily="34" charset="0"/>
                <a:ea typeface="Marcellus" panose="020E0602050203020307" pitchFamily="34" charset="-122"/>
                <a:cs typeface="Marcellus" panose="020E0602050203020307" pitchFamily="34" charset="-120"/>
              </a:rPr>
              <a:t>Deployment</a:t>
            </a:r>
            <a:endParaRPr lang="en-US" sz="1600" dirty="0"/>
          </a:p>
        </p:txBody>
      </p:sp>
      <p:sp>
        <p:nvSpPr>
          <p:cNvPr id="22" name="Text 16"/>
          <p:cNvSpPr/>
          <p:nvPr/>
        </p:nvSpPr>
        <p:spPr>
          <a:xfrm>
            <a:off x="4798888" y="4086895"/>
            <a:ext cx="3692947" cy="368498"/>
          </a:xfrm>
          <a:prstGeom prst="rect">
            <a:avLst/>
          </a:prstGeom>
          <a:noFill/>
        </p:spPr>
        <p:txBody>
          <a:bodyPr wrap="square" lIns="0" tIns="0" rIns="0" bIns="0" rtlCol="0" anchor="t">
            <a:normAutofit/>
          </a:bodyPr>
          <a:lstStyle/>
          <a:p>
            <a:pPr marL="0" indent="0" algn="l">
              <a:lnSpc>
                <a:spcPct val="108000"/>
              </a:lnSpc>
              <a:buNone/>
            </a:pPr>
            <a:r>
              <a:rPr lang="en-US" sz="1100" dirty="0">
                <a:solidFill>
                  <a:srgbClr val="67534F"/>
                </a:solidFill>
                <a:latin typeface="Montserrat" pitchFamily="34" charset="0"/>
                <a:ea typeface="Montserrat" pitchFamily="34" charset="-122"/>
                <a:cs typeface="Montserrat" pitchFamily="34" charset="-120"/>
              </a:rPr>
              <a:t>User studies with healthcare &amp; manufacturing stakeholders in real environments</a:t>
            </a:r>
            <a:endParaRPr lang="en-US" sz="1100" dirty="0"/>
          </a:p>
        </p:txBody>
      </p:sp>
      <p:pic>
        <p:nvPicPr>
          <p:cNvPr id="23" name="Picture 22" descr="Screenshot 2026-08-05 192041"/>
          <p:cNvPicPr>
            <a:picLocks noChangeAspect="1"/>
          </p:cNvPicPr>
          <p:nvPr/>
        </p:nvPicPr>
        <p:blipFill>
          <a:blip r:embed="rId9"/>
          <a:stretch>
            <a:fillRect/>
          </a:stretch>
        </p:blipFill>
        <p:spPr>
          <a:xfrm>
            <a:off x="7520940" y="4789805"/>
            <a:ext cx="1623060" cy="2819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8151763" cy="264914"/>
          </a:xfrm>
          <a:prstGeom prst="rect">
            <a:avLst/>
          </a:prstGeom>
          <a:noFill/>
        </p:spPr>
        <p:txBody>
          <a:bodyPr wrap="none" lIns="0" tIns="0" rIns="0" bIns="0" rtlCol="0" anchor="t"/>
          <a:lstStyle/>
          <a:p>
            <a:pPr marL="0" indent="0" algn="l">
              <a:lnSpc>
                <a:spcPct val="108000"/>
              </a:lnSpc>
              <a:buNone/>
            </a:pPr>
            <a:r>
              <a:rPr lang="en-US" sz="1600" kern="0" spc="-16" dirty="0">
                <a:solidFill>
                  <a:srgbClr val="532418"/>
                </a:solidFill>
                <a:latin typeface="Marcellus" panose="020E0602050203020307" pitchFamily="34" charset="0"/>
                <a:ea typeface="Marcellus" panose="020E0602050203020307" pitchFamily="34" charset="-122"/>
                <a:cs typeface="Marcellus" panose="020E0602050203020307" pitchFamily="34" charset="-120"/>
              </a:rPr>
              <a:t>Stakeholders &amp; Impact</a:t>
            </a:r>
            <a:endParaRPr lang="en-US" sz="1600" dirty="0"/>
          </a:p>
        </p:txBody>
      </p:sp>
      <p:pic>
        <p:nvPicPr>
          <p:cNvPr id="3" name="Image 0" descr="preencoded.png"/>
          <p:cNvPicPr>
            <a:picLocks noChangeAspect="1"/>
          </p:cNvPicPr>
          <p:nvPr/>
        </p:nvPicPr>
        <p:blipFill>
          <a:blip r:embed="rId1"/>
          <a:stretch>
            <a:fillRect/>
          </a:stretch>
        </p:blipFill>
        <p:spPr>
          <a:xfrm>
            <a:off x="496119" y="747713"/>
            <a:ext cx="3989412" cy="3989412"/>
          </a:xfrm>
          <a:prstGeom prst="rect">
            <a:avLst/>
          </a:prstGeom>
        </p:spPr>
      </p:pic>
      <p:sp>
        <p:nvSpPr>
          <p:cNvPr id="4" name="Text 1"/>
          <p:cNvSpPr/>
          <p:nvPr/>
        </p:nvSpPr>
        <p:spPr>
          <a:xfrm>
            <a:off x="4663232" y="2212479"/>
            <a:ext cx="3989412" cy="132383"/>
          </a:xfrm>
          <a:prstGeom prst="rect">
            <a:avLst/>
          </a:prstGeom>
          <a:noFill/>
        </p:spPr>
        <p:txBody>
          <a:bodyPr wrap="none" lIns="0" tIns="0" rIns="0" bIns="0" rtlCol="0" anchor="t"/>
          <a:lstStyle/>
          <a:p>
            <a:pPr marL="0" indent="0" algn="l">
              <a:lnSpc>
                <a:spcPct val="108000"/>
              </a:lnSpc>
              <a:buNone/>
            </a:pPr>
            <a:r>
              <a:rPr lang="en-US" sz="800" kern="0" spc="-8" dirty="0">
                <a:solidFill>
                  <a:srgbClr val="532418"/>
                </a:solidFill>
                <a:latin typeface="Marcellus" panose="020E0602050203020307" pitchFamily="34" charset="0"/>
                <a:ea typeface="Marcellus" panose="020E0602050203020307" pitchFamily="34" charset="-122"/>
                <a:cs typeface="Marcellus" panose="020E0602050203020307" pitchFamily="34" charset="-120"/>
              </a:rPr>
              <a:t>Primary Beneficiaries</a:t>
            </a:r>
            <a:endParaRPr lang="en-US" sz="800" dirty="0"/>
          </a:p>
        </p:txBody>
      </p:sp>
      <p:sp>
        <p:nvSpPr>
          <p:cNvPr id="5" name="Text 2"/>
          <p:cNvSpPr/>
          <p:nvPr/>
        </p:nvSpPr>
        <p:spPr>
          <a:xfrm>
            <a:off x="4663232" y="2380283"/>
            <a:ext cx="3989412" cy="138261"/>
          </a:xfrm>
          <a:prstGeom prst="rect">
            <a:avLst/>
          </a:prstGeom>
          <a:noFill/>
        </p:spPr>
        <p:txBody>
          <a:bodyPr wrap="square" lIns="0" tIns="0" rIns="0" bIns="0" rtlCol="0" anchor="t">
            <a:normAutofit lnSpcReduction="10000"/>
          </a:bodyPr>
          <a:lstStyle/>
          <a:p>
            <a:pPr marL="0" indent="0" algn="l">
              <a:lnSpc>
                <a:spcPct val="81000"/>
              </a:lnSpc>
              <a:buNone/>
            </a:pPr>
            <a:r>
              <a:rPr lang="en-US" sz="550" dirty="0">
                <a:solidFill>
                  <a:srgbClr val="67534F"/>
                </a:solidFill>
                <a:latin typeface="Montserrat" pitchFamily="34" charset="0"/>
                <a:ea typeface="Montserrat" pitchFamily="34" charset="-122"/>
                <a:cs typeface="Montserrat" pitchFamily="34" charset="-120"/>
              </a:rPr>
              <a:t>Older adults and people with disabilities gain intuitive assistive interaction. Healthcare workers and industrial operators benefit from safer, more reliable collaborative robots.</a:t>
            </a:r>
            <a:endParaRPr lang="en-US" sz="550" dirty="0"/>
          </a:p>
        </p:txBody>
      </p:sp>
      <p:sp>
        <p:nvSpPr>
          <p:cNvPr id="6" name="Text 3"/>
          <p:cNvSpPr/>
          <p:nvPr/>
        </p:nvSpPr>
        <p:spPr>
          <a:xfrm>
            <a:off x="4663232" y="2553965"/>
            <a:ext cx="3989412" cy="132383"/>
          </a:xfrm>
          <a:prstGeom prst="rect">
            <a:avLst/>
          </a:prstGeom>
          <a:noFill/>
        </p:spPr>
        <p:txBody>
          <a:bodyPr wrap="none" lIns="0" tIns="0" rIns="0" bIns="0" rtlCol="0" anchor="t"/>
          <a:lstStyle/>
          <a:p>
            <a:pPr marL="0" indent="0" algn="l">
              <a:lnSpc>
                <a:spcPct val="108000"/>
              </a:lnSpc>
              <a:buNone/>
            </a:pPr>
            <a:r>
              <a:rPr lang="en-US" sz="800" kern="0" spc="-8" dirty="0">
                <a:solidFill>
                  <a:srgbClr val="532418"/>
                </a:solidFill>
                <a:latin typeface="Marcellus" panose="020E0602050203020307" pitchFamily="34" charset="0"/>
                <a:ea typeface="Marcellus" panose="020E0602050203020307" pitchFamily="34" charset="-122"/>
                <a:cs typeface="Marcellus" panose="020E0602050203020307" pitchFamily="34" charset="-120"/>
              </a:rPr>
              <a:t>Secondary Stakeholders</a:t>
            </a:r>
            <a:endParaRPr lang="en-US" sz="800" dirty="0"/>
          </a:p>
        </p:txBody>
      </p:sp>
      <p:sp>
        <p:nvSpPr>
          <p:cNvPr id="7" name="Text 4"/>
          <p:cNvSpPr/>
          <p:nvPr/>
        </p:nvSpPr>
        <p:spPr>
          <a:xfrm>
            <a:off x="4663232" y="2721769"/>
            <a:ext cx="3989412" cy="138261"/>
          </a:xfrm>
          <a:prstGeom prst="rect">
            <a:avLst/>
          </a:prstGeom>
          <a:noFill/>
        </p:spPr>
        <p:txBody>
          <a:bodyPr wrap="square" lIns="0" tIns="0" rIns="0" bIns="0" rtlCol="0" anchor="t">
            <a:normAutofit lnSpcReduction="10000"/>
          </a:bodyPr>
          <a:lstStyle/>
          <a:p>
            <a:pPr marL="0" indent="0" algn="l">
              <a:lnSpc>
                <a:spcPct val="81000"/>
              </a:lnSpc>
              <a:buNone/>
            </a:pPr>
            <a:r>
              <a:rPr lang="en-US" sz="550" dirty="0">
                <a:solidFill>
                  <a:srgbClr val="67534F"/>
                </a:solidFill>
                <a:latin typeface="Montserrat" pitchFamily="34" charset="0"/>
                <a:ea typeface="Montserrat" pitchFamily="34" charset="-122"/>
                <a:cs typeface="Montserrat" pitchFamily="34" charset="-120"/>
              </a:rPr>
              <a:t>Robotics researchers, AI developers, hospitals, manufacturers, and regulators all benefit from a validated, open framework for safe multimodal HRI.</a:t>
            </a:r>
            <a:endParaRPr lang="en-US" sz="550" dirty="0"/>
          </a:p>
        </p:txBody>
      </p:sp>
      <p:sp>
        <p:nvSpPr>
          <p:cNvPr id="8" name="Text 5"/>
          <p:cNvSpPr/>
          <p:nvPr/>
        </p:nvSpPr>
        <p:spPr>
          <a:xfrm>
            <a:off x="4663232" y="2895451"/>
            <a:ext cx="3989412" cy="132383"/>
          </a:xfrm>
          <a:prstGeom prst="rect">
            <a:avLst/>
          </a:prstGeom>
          <a:noFill/>
        </p:spPr>
        <p:txBody>
          <a:bodyPr wrap="none" lIns="0" tIns="0" rIns="0" bIns="0" rtlCol="0" anchor="t"/>
          <a:lstStyle/>
          <a:p>
            <a:pPr marL="0" indent="0" algn="l">
              <a:lnSpc>
                <a:spcPct val="108000"/>
              </a:lnSpc>
              <a:buNone/>
            </a:pPr>
            <a:r>
              <a:rPr lang="en-US" sz="800" kern="0" spc="-8" dirty="0">
                <a:solidFill>
                  <a:srgbClr val="532418"/>
                </a:solidFill>
                <a:latin typeface="Marcellus" panose="020E0602050203020307" pitchFamily="34" charset="0"/>
                <a:ea typeface="Marcellus" panose="020E0602050203020307" pitchFamily="34" charset="-122"/>
                <a:cs typeface="Marcellus" panose="020E0602050203020307" pitchFamily="34" charset="-120"/>
              </a:rPr>
              <a:t>Cross-Sector Use Cases</a:t>
            </a:r>
            <a:endParaRPr lang="en-US" sz="800" dirty="0"/>
          </a:p>
        </p:txBody>
      </p:sp>
      <p:sp>
        <p:nvSpPr>
          <p:cNvPr id="9" name="Text 6"/>
          <p:cNvSpPr/>
          <p:nvPr/>
        </p:nvSpPr>
        <p:spPr>
          <a:xfrm>
            <a:off x="4663232" y="3063255"/>
            <a:ext cx="3989412" cy="232097"/>
          </a:xfrm>
          <a:prstGeom prst="rect">
            <a:avLst/>
          </a:prstGeom>
          <a:noFill/>
        </p:spPr>
        <p:txBody>
          <a:bodyPr wrap="square" lIns="0" tIns="0" rIns="0" bIns="0" rtlCol="0" anchor="t">
            <a:normAutofit/>
          </a:bodyPr>
          <a:lstStyle/>
          <a:p>
            <a:pPr marL="111760" indent="-111760" algn="l">
              <a:lnSpc>
                <a:spcPct val="81000"/>
              </a:lnSpc>
              <a:buSzPct val="100000"/>
              <a:buChar char="•"/>
            </a:pPr>
            <a:r>
              <a:rPr lang="en-US" sz="550" dirty="0">
                <a:solidFill>
                  <a:srgbClr val="67534F"/>
                </a:solidFill>
                <a:latin typeface="Montserrat" pitchFamily="34" charset="0"/>
                <a:ea typeface="Montserrat" pitchFamily="34" charset="-122"/>
                <a:cs typeface="Montserrat" pitchFamily="34" charset="-120"/>
              </a:rPr>
              <a:t>Rehabilitation and assisted living</a:t>
            </a:r>
            <a:endParaRPr lang="en-US" sz="550" dirty="0"/>
          </a:p>
          <a:p>
            <a:pPr marL="111760" indent="-111760" algn="l">
              <a:lnSpc>
                <a:spcPct val="81000"/>
              </a:lnSpc>
              <a:buSzPct val="100000"/>
              <a:buChar char="•"/>
            </a:pPr>
            <a:r>
              <a:rPr lang="en-US" sz="550" dirty="0">
                <a:solidFill>
                  <a:srgbClr val="67534F"/>
                </a:solidFill>
                <a:latin typeface="Montserrat" pitchFamily="34" charset="0"/>
                <a:ea typeface="Montserrat" pitchFamily="34" charset="-122"/>
                <a:cs typeface="Montserrat" pitchFamily="34" charset="-120"/>
              </a:rPr>
              <a:t>Precision manufacturing and logistics</a:t>
            </a:r>
            <a:endParaRPr lang="en-US" sz="550" dirty="0"/>
          </a:p>
          <a:p>
            <a:pPr marL="111760" indent="-111760" algn="l">
              <a:lnSpc>
                <a:spcPct val="81000"/>
              </a:lnSpc>
              <a:buSzPct val="100000"/>
              <a:buChar char="•"/>
            </a:pPr>
            <a:r>
              <a:rPr lang="en-US" sz="550" dirty="0">
                <a:solidFill>
                  <a:srgbClr val="67534F"/>
                </a:solidFill>
                <a:latin typeface="Montserrat" pitchFamily="34" charset="0"/>
                <a:ea typeface="Montserrat" pitchFamily="34" charset="-122"/>
                <a:cs typeface="Montserrat" pitchFamily="34" charset="-120"/>
              </a:rPr>
              <a:t>Home assistance and elder care</a:t>
            </a:r>
            <a:endParaRPr lang="en-US" sz="550" dirty="0"/>
          </a:p>
        </p:txBody>
      </p:sp>
      <p:pic>
        <p:nvPicPr>
          <p:cNvPr id="12" name="Picture 11" descr="Screenshot 2026-08-05 192041"/>
          <p:cNvPicPr>
            <a:picLocks noChangeAspect="1"/>
          </p:cNvPicPr>
          <p:nvPr/>
        </p:nvPicPr>
        <p:blipFill>
          <a:blip r:embed="rId2"/>
          <a:stretch>
            <a:fillRect/>
          </a:stretch>
        </p:blipFill>
        <p:spPr>
          <a:xfrm>
            <a:off x="7520940" y="4789805"/>
            <a:ext cx="1623060" cy="2819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8151763" cy="463600"/>
          </a:xfrm>
          <a:prstGeom prst="rect">
            <a:avLst/>
          </a:prstGeom>
          <a:noFill/>
        </p:spPr>
        <p:txBody>
          <a:bodyPr wrap="none" lIns="0" tIns="0" rIns="0" bIns="0" rtlCol="0" anchor="t"/>
          <a:lstStyle/>
          <a:p>
            <a:pPr marL="0" indent="0" algn="l">
              <a:lnSpc>
                <a:spcPct val="108000"/>
              </a:lnSpc>
              <a:buNone/>
            </a:pPr>
            <a:r>
              <a:rPr lang="en-US" sz="2800" kern="0" spc="-28" dirty="0">
                <a:solidFill>
                  <a:srgbClr val="532418"/>
                </a:solidFill>
                <a:latin typeface="Marcellus" panose="020E0602050203020307" pitchFamily="34" charset="0"/>
                <a:ea typeface="Marcellus" panose="020E0602050203020307" pitchFamily="34" charset="-122"/>
                <a:cs typeface="Marcellus" panose="020E0602050203020307" pitchFamily="34" charset="-120"/>
              </a:rPr>
              <a:t>Risks &amp; Mitigation</a:t>
            </a:r>
            <a:endParaRPr lang="en-US" sz="2800" dirty="0"/>
          </a:p>
        </p:txBody>
      </p:sp>
      <p:sp>
        <p:nvSpPr>
          <p:cNvPr id="3" name="Shape 1"/>
          <p:cNvSpPr/>
          <p:nvPr/>
        </p:nvSpPr>
        <p:spPr>
          <a:xfrm>
            <a:off x="4564856" y="1070521"/>
            <a:ext cx="14288" cy="2992264"/>
          </a:xfrm>
          <a:prstGeom prst="roundRect">
            <a:avLst>
              <a:gd name="adj" fmla="val 49998"/>
            </a:avLst>
          </a:prstGeom>
          <a:solidFill>
            <a:srgbClr val="FFE0CC"/>
          </a:solidFill>
        </p:spPr>
      </p:sp>
      <p:sp>
        <p:nvSpPr>
          <p:cNvPr id="4" name="Shape 2"/>
          <p:cNvSpPr/>
          <p:nvPr/>
        </p:nvSpPr>
        <p:spPr>
          <a:xfrm>
            <a:off x="4074691" y="1202903"/>
            <a:ext cx="372070" cy="14288"/>
          </a:xfrm>
          <a:prstGeom prst="roundRect">
            <a:avLst>
              <a:gd name="adj" fmla="val 49998"/>
            </a:avLst>
          </a:prstGeom>
          <a:solidFill>
            <a:srgbClr val="FFE0CC"/>
          </a:solidFill>
        </p:spPr>
      </p:sp>
      <p:sp>
        <p:nvSpPr>
          <p:cNvPr id="5" name="Shape 3"/>
          <p:cNvSpPr/>
          <p:nvPr/>
        </p:nvSpPr>
        <p:spPr>
          <a:xfrm>
            <a:off x="4432474" y="1070521"/>
            <a:ext cx="279053" cy="279053"/>
          </a:xfrm>
          <a:prstGeom prst="roundRect">
            <a:avLst>
              <a:gd name="adj" fmla="val 18670"/>
            </a:avLst>
          </a:prstGeom>
          <a:solidFill>
            <a:srgbClr val="FFFFF4"/>
          </a:solidFill>
          <a:ln w="14288">
            <a:solidFill>
              <a:srgbClr val="FFE0CC"/>
            </a:solidFill>
            <a:prstDash val="solid"/>
          </a:ln>
        </p:spPr>
      </p:sp>
      <p:sp>
        <p:nvSpPr>
          <p:cNvPr id="6" name="Text 4"/>
          <p:cNvSpPr/>
          <p:nvPr/>
        </p:nvSpPr>
        <p:spPr>
          <a:xfrm>
            <a:off x="4465030" y="1070967"/>
            <a:ext cx="213940" cy="278160"/>
          </a:xfrm>
          <a:prstGeom prst="rect">
            <a:avLst/>
          </a:prstGeom>
          <a:noFill/>
        </p:spPr>
        <p:txBody>
          <a:bodyPr wrap="none" lIns="0" tIns="0" rIns="0" bIns="0" rtlCol="0" anchor="ctr"/>
          <a:lstStyle/>
          <a:p>
            <a:pPr marL="0" indent="0" algn="ctr">
              <a:lnSpc>
                <a:spcPct val="100000"/>
              </a:lnSpc>
              <a:buNone/>
            </a:pPr>
            <a:r>
              <a:rPr lang="en-US" sz="1650" kern="0" spc="-17" dirty="0">
                <a:solidFill>
                  <a:srgbClr val="67534F"/>
                </a:solidFill>
                <a:latin typeface="Marcellus" panose="020E0602050203020307" pitchFamily="34" charset="0"/>
                <a:ea typeface="Marcellus" panose="020E0602050203020307" pitchFamily="34" charset="-122"/>
                <a:cs typeface="Marcellus" panose="020E0602050203020307" pitchFamily="34" charset="-120"/>
              </a:rPr>
              <a:t>1</a:t>
            </a:r>
            <a:endParaRPr lang="en-US" sz="1650" dirty="0"/>
          </a:p>
        </p:txBody>
      </p:sp>
      <p:sp>
        <p:nvSpPr>
          <p:cNvPr id="7" name="Text 5"/>
          <p:cNvSpPr/>
          <p:nvPr/>
        </p:nvSpPr>
        <p:spPr>
          <a:xfrm>
            <a:off x="496119" y="1109216"/>
            <a:ext cx="3455715" cy="231725"/>
          </a:xfrm>
          <a:prstGeom prst="rect">
            <a:avLst/>
          </a:prstGeom>
          <a:noFill/>
        </p:spPr>
        <p:txBody>
          <a:bodyPr wrap="none" lIns="0" tIns="0" rIns="0" bIns="0" rtlCol="0" anchor="t"/>
          <a:lstStyle/>
          <a:p>
            <a:pPr marL="0" indent="0" algn="r">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Limited Multimodal Datasets</a:t>
            </a:r>
            <a:endParaRPr lang="en-US" sz="1400" dirty="0"/>
          </a:p>
        </p:txBody>
      </p:sp>
      <p:sp>
        <p:nvSpPr>
          <p:cNvPr id="8" name="Text 6"/>
          <p:cNvSpPr/>
          <p:nvPr/>
        </p:nvSpPr>
        <p:spPr>
          <a:xfrm>
            <a:off x="496119" y="1406054"/>
            <a:ext cx="3455715" cy="453405"/>
          </a:xfrm>
          <a:prstGeom prst="rect">
            <a:avLst/>
          </a:prstGeom>
          <a:noFill/>
        </p:spPr>
        <p:txBody>
          <a:bodyPr wrap="square" lIns="0" tIns="0" rIns="0" bIns="0" rtlCol="0" anchor="t">
            <a:normAutofit/>
          </a:bodyPr>
          <a:lstStyle/>
          <a:p>
            <a:pPr marL="0" indent="0" algn="r">
              <a:lnSpc>
                <a:spcPct val="102000"/>
              </a:lnSpc>
              <a:buNone/>
            </a:pPr>
            <a:r>
              <a:rPr lang="en-US" sz="950" dirty="0">
                <a:solidFill>
                  <a:srgbClr val="67534F"/>
                </a:solidFill>
                <a:latin typeface="Montserrat" pitchFamily="34" charset="0"/>
                <a:ea typeface="Montserrat" pitchFamily="34" charset="-122"/>
                <a:cs typeface="Montserrat" pitchFamily="34" charset="-120"/>
              </a:rPr>
              <a:t>Combine public datasets (Mozilla, HaGRID, COCO) with custom-collected multimodal samples to ensure coverage</a:t>
            </a:r>
            <a:endParaRPr lang="en-US" sz="950" dirty="0"/>
          </a:p>
        </p:txBody>
      </p:sp>
      <p:sp>
        <p:nvSpPr>
          <p:cNvPr id="9" name="Shape 7"/>
          <p:cNvSpPr/>
          <p:nvPr/>
        </p:nvSpPr>
        <p:spPr>
          <a:xfrm>
            <a:off x="4697239" y="1916088"/>
            <a:ext cx="372070" cy="14288"/>
          </a:xfrm>
          <a:prstGeom prst="roundRect">
            <a:avLst>
              <a:gd name="adj" fmla="val 49998"/>
            </a:avLst>
          </a:prstGeom>
          <a:solidFill>
            <a:srgbClr val="FFE0CC"/>
          </a:solidFill>
        </p:spPr>
      </p:sp>
      <p:sp>
        <p:nvSpPr>
          <p:cNvPr id="10" name="Shape 8"/>
          <p:cNvSpPr/>
          <p:nvPr/>
        </p:nvSpPr>
        <p:spPr>
          <a:xfrm>
            <a:off x="4432474" y="1783705"/>
            <a:ext cx="279053" cy="279053"/>
          </a:xfrm>
          <a:prstGeom prst="roundRect">
            <a:avLst>
              <a:gd name="adj" fmla="val 18670"/>
            </a:avLst>
          </a:prstGeom>
          <a:solidFill>
            <a:srgbClr val="FFFFF4"/>
          </a:solidFill>
          <a:ln w="14288">
            <a:solidFill>
              <a:srgbClr val="FFE0CC"/>
            </a:solidFill>
            <a:prstDash val="solid"/>
          </a:ln>
        </p:spPr>
      </p:sp>
      <p:sp>
        <p:nvSpPr>
          <p:cNvPr id="11" name="Text 9"/>
          <p:cNvSpPr/>
          <p:nvPr/>
        </p:nvSpPr>
        <p:spPr>
          <a:xfrm>
            <a:off x="4465030" y="1784152"/>
            <a:ext cx="213940" cy="278160"/>
          </a:xfrm>
          <a:prstGeom prst="rect">
            <a:avLst/>
          </a:prstGeom>
          <a:noFill/>
        </p:spPr>
        <p:txBody>
          <a:bodyPr wrap="none" lIns="0" tIns="0" rIns="0" bIns="0" rtlCol="0" anchor="ctr"/>
          <a:lstStyle/>
          <a:p>
            <a:pPr marL="0" indent="0" algn="ctr">
              <a:lnSpc>
                <a:spcPct val="100000"/>
              </a:lnSpc>
              <a:buNone/>
            </a:pPr>
            <a:r>
              <a:rPr lang="en-US" sz="1650" kern="0" spc="-17" dirty="0">
                <a:solidFill>
                  <a:srgbClr val="67534F"/>
                </a:solidFill>
                <a:latin typeface="Marcellus" panose="020E0602050203020307" pitchFamily="34" charset="0"/>
                <a:ea typeface="Marcellus" panose="020E0602050203020307" pitchFamily="34" charset="-122"/>
                <a:cs typeface="Marcellus" panose="020E0602050203020307" pitchFamily="34" charset="-120"/>
              </a:rPr>
              <a:t>2</a:t>
            </a:r>
            <a:endParaRPr lang="en-US" sz="1650" dirty="0"/>
          </a:p>
        </p:txBody>
      </p:sp>
      <p:sp>
        <p:nvSpPr>
          <p:cNvPr id="12" name="Text 10"/>
          <p:cNvSpPr/>
          <p:nvPr/>
        </p:nvSpPr>
        <p:spPr>
          <a:xfrm>
            <a:off x="5192167" y="1822400"/>
            <a:ext cx="3455715" cy="231725"/>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High Inference Latency</a:t>
            </a:r>
            <a:endParaRPr lang="en-US" sz="1400" dirty="0"/>
          </a:p>
        </p:txBody>
      </p:sp>
      <p:sp>
        <p:nvSpPr>
          <p:cNvPr id="13" name="Text 11"/>
          <p:cNvSpPr/>
          <p:nvPr/>
        </p:nvSpPr>
        <p:spPr>
          <a:xfrm>
            <a:off x="5192167" y="2119238"/>
            <a:ext cx="3455715" cy="453405"/>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Deploy lightweight model variants (Whisper-small, YOLOv8n) and optimize inference pipelines for real-time performance</a:t>
            </a:r>
            <a:endParaRPr lang="en-US" sz="950" dirty="0"/>
          </a:p>
        </p:txBody>
      </p:sp>
      <p:sp>
        <p:nvSpPr>
          <p:cNvPr id="14" name="Shape 12"/>
          <p:cNvSpPr/>
          <p:nvPr/>
        </p:nvSpPr>
        <p:spPr>
          <a:xfrm>
            <a:off x="4074691" y="2540124"/>
            <a:ext cx="372070" cy="14288"/>
          </a:xfrm>
          <a:prstGeom prst="roundRect">
            <a:avLst>
              <a:gd name="adj" fmla="val 49998"/>
            </a:avLst>
          </a:prstGeom>
          <a:solidFill>
            <a:srgbClr val="FFE0CC"/>
          </a:solidFill>
        </p:spPr>
      </p:sp>
      <p:sp>
        <p:nvSpPr>
          <p:cNvPr id="15" name="Shape 13"/>
          <p:cNvSpPr/>
          <p:nvPr/>
        </p:nvSpPr>
        <p:spPr>
          <a:xfrm>
            <a:off x="4432474" y="2407741"/>
            <a:ext cx="279053" cy="279053"/>
          </a:xfrm>
          <a:prstGeom prst="roundRect">
            <a:avLst>
              <a:gd name="adj" fmla="val 18670"/>
            </a:avLst>
          </a:prstGeom>
          <a:solidFill>
            <a:srgbClr val="FFFFF4"/>
          </a:solidFill>
          <a:ln w="14288">
            <a:solidFill>
              <a:srgbClr val="FFE0CC"/>
            </a:solidFill>
            <a:prstDash val="solid"/>
          </a:ln>
        </p:spPr>
      </p:sp>
      <p:sp>
        <p:nvSpPr>
          <p:cNvPr id="16" name="Text 14"/>
          <p:cNvSpPr/>
          <p:nvPr/>
        </p:nvSpPr>
        <p:spPr>
          <a:xfrm>
            <a:off x="4465030" y="2408188"/>
            <a:ext cx="213940" cy="278160"/>
          </a:xfrm>
          <a:prstGeom prst="rect">
            <a:avLst/>
          </a:prstGeom>
          <a:noFill/>
        </p:spPr>
        <p:txBody>
          <a:bodyPr wrap="none" lIns="0" tIns="0" rIns="0" bIns="0" rtlCol="0" anchor="ctr"/>
          <a:lstStyle/>
          <a:p>
            <a:pPr marL="0" indent="0" algn="ctr">
              <a:lnSpc>
                <a:spcPct val="100000"/>
              </a:lnSpc>
              <a:buNone/>
            </a:pPr>
            <a:r>
              <a:rPr lang="en-US" sz="1650" kern="0" spc="-17" dirty="0">
                <a:solidFill>
                  <a:srgbClr val="67534F"/>
                </a:solidFill>
                <a:latin typeface="Marcellus" panose="020E0602050203020307" pitchFamily="34" charset="0"/>
                <a:ea typeface="Marcellus" panose="020E0602050203020307" pitchFamily="34" charset="-122"/>
                <a:cs typeface="Marcellus" panose="020E0602050203020307" pitchFamily="34" charset="-120"/>
              </a:rPr>
              <a:t>3</a:t>
            </a:r>
            <a:endParaRPr lang="en-US" sz="1650" dirty="0"/>
          </a:p>
        </p:txBody>
      </p:sp>
      <p:sp>
        <p:nvSpPr>
          <p:cNvPr id="17" name="Text 15"/>
          <p:cNvSpPr/>
          <p:nvPr/>
        </p:nvSpPr>
        <p:spPr>
          <a:xfrm>
            <a:off x="496119" y="2446437"/>
            <a:ext cx="3455715" cy="231725"/>
          </a:xfrm>
          <a:prstGeom prst="rect">
            <a:avLst/>
          </a:prstGeom>
          <a:noFill/>
        </p:spPr>
        <p:txBody>
          <a:bodyPr wrap="none" lIns="0" tIns="0" rIns="0" bIns="0" rtlCol="0" anchor="t"/>
          <a:lstStyle/>
          <a:p>
            <a:pPr marL="0" indent="0" algn="r">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Sensor Failures</a:t>
            </a:r>
            <a:endParaRPr lang="en-US" sz="1400" dirty="0"/>
          </a:p>
        </p:txBody>
      </p:sp>
      <p:sp>
        <p:nvSpPr>
          <p:cNvPr id="18" name="Text 16"/>
          <p:cNvSpPr/>
          <p:nvPr/>
        </p:nvSpPr>
        <p:spPr>
          <a:xfrm>
            <a:off x="496119" y="2743274"/>
            <a:ext cx="3455715" cy="453405"/>
          </a:xfrm>
          <a:prstGeom prst="rect">
            <a:avLst/>
          </a:prstGeom>
          <a:noFill/>
        </p:spPr>
        <p:txBody>
          <a:bodyPr wrap="square" lIns="0" tIns="0" rIns="0" bIns="0" rtlCol="0" anchor="t">
            <a:normAutofit/>
          </a:bodyPr>
          <a:lstStyle/>
          <a:p>
            <a:pPr marL="0" indent="0" algn="r">
              <a:lnSpc>
                <a:spcPct val="102000"/>
              </a:lnSpc>
              <a:buNone/>
            </a:pPr>
            <a:r>
              <a:rPr lang="en-US" sz="950" dirty="0">
                <a:solidFill>
                  <a:srgbClr val="67534F"/>
                </a:solidFill>
                <a:latin typeface="Montserrat" pitchFamily="34" charset="0"/>
                <a:ea typeface="Montserrat" pitchFamily="34" charset="-122"/>
                <a:cs typeface="Montserrat" pitchFamily="34" charset="-120"/>
              </a:rPr>
              <a:t>Multimodal fusion architecture allows surviving modalities to compensate—graceful degradation by design</a:t>
            </a:r>
            <a:endParaRPr lang="en-US" sz="950" dirty="0"/>
          </a:p>
        </p:txBody>
      </p:sp>
      <p:sp>
        <p:nvSpPr>
          <p:cNvPr id="19" name="Shape 17"/>
          <p:cNvSpPr/>
          <p:nvPr/>
        </p:nvSpPr>
        <p:spPr>
          <a:xfrm>
            <a:off x="4697239" y="3164160"/>
            <a:ext cx="372070" cy="14288"/>
          </a:xfrm>
          <a:prstGeom prst="roundRect">
            <a:avLst>
              <a:gd name="adj" fmla="val 49998"/>
            </a:avLst>
          </a:prstGeom>
          <a:solidFill>
            <a:srgbClr val="FFE0CC"/>
          </a:solidFill>
        </p:spPr>
      </p:sp>
      <p:sp>
        <p:nvSpPr>
          <p:cNvPr id="20" name="Shape 18"/>
          <p:cNvSpPr/>
          <p:nvPr/>
        </p:nvSpPr>
        <p:spPr>
          <a:xfrm>
            <a:off x="4432474" y="3031778"/>
            <a:ext cx="279053" cy="279053"/>
          </a:xfrm>
          <a:prstGeom prst="roundRect">
            <a:avLst>
              <a:gd name="adj" fmla="val 18670"/>
            </a:avLst>
          </a:prstGeom>
          <a:solidFill>
            <a:srgbClr val="FFFFF4"/>
          </a:solidFill>
          <a:ln w="14288">
            <a:solidFill>
              <a:srgbClr val="FFE0CC"/>
            </a:solidFill>
            <a:prstDash val="solid"/>
          </a:ln>
        </p:spPr>
      </p:sp>
      <p:sp>
        <p:nvSpPr>
          <p:cNvPr id="21" name="Text 19"/>
          <p:cNvSpPr/>
          <p:nvPr/>
        </p:nvSpPr>
        <p:spPr>
          <a:xfrm>
            <a:off x="4465030" y="3032224"/>
            <a:ext cx="213940" cy="278160"/>
          </a:xfrm>
          <a:prstGeom prst="rect">
            <a:avLst/>
          </a:prstGeom>
          <a:noFill/>
        </p:spPr>
        <p:txBody>
          <a:bodyPr wrap="none" lIns="0" tIns="0" rIns="0" bIns="0" rtlCol="0" anchor="ctr"/>
          <a:lstStyle/>
          <a:p>
            <a:pPr marL="0" indent="0" algn="ctr">
              <a:lnSpc>
                <a:spcPct val="100000"/>
              </a:lnSpc>
              <a:buNone/>
            </a:pPr>
            <a:r>
              <a:rPr lang="en-US" sz="1650" kern="0" spc="-17" dirty="0">
                <a:solidFill>
                  <a:srgbClr val="67534F"/>
                </a:solidFill>
                <a:latin typeface="Marcellus" panose="020E0602050203020307" pitchFamily="34" charset="0"/>
                <a:ea typeface="Marcellus" panose="020E0602050203020307" pitchFamily="34" charset="-122"/>
                <a:cs typeface="Marcellus" panose="020E0602050203020307" pitchFamily="34" charset="-120"/>
              </a:rPr>
              <a:t>4</a:t>
            </a:r>
            <a:endParaRPr lang="en-US" sz="1650" dirty="0"/>
          </a:p>
        </p:txBody>
      </p:sp>
      <p:sp>
        <p:nvSpPr>
          <p:cNvPr id="22" name="Text 20"/>
          <p:cNvSpPr/>
          <p:nvPr/>
        </p:nvSpPr>
        <p:spPr>
          <a:xfrm>
            <a:off x="5192167" y="3070473"/>
            <a:ext cx="3455715" cy="231725"/>
          </a:xfrm>
          <a:prstGeom prst="rect">
            <a:avLst/>
          </a:prstGeom>
          <a:noFill/>
        </p:spPr>
        <p:txBody>
          <a:bodyPr wrap="none" lIns="0" tIns="0" rIns="0" bIns="0" rtlCol="0" anchor="t"/>
          <a:lstStyle/>
          <a:p>
            <a:pPr marL="0" indent="0" algn="l">
              <a:lnSpc>
                <a:spcPct val="108000"/>
              </a:lnSpc>
              <a:buNone/>
            </a:pPr>
            <a:r>
              <a:rPr lang="en-US" sz="1400" kern="0" spc="-14" dirty="0">
                <a:solidFill>
                  <a:srgbClr val="67534F"/>
                </a:solidFill>
                <a:latin typeface="Marcellus" panose="020E0602050203020307" pitchFamily="34" charset="0"/>
                <a:ea typeface="Marcellus" panose="020E0602050203020307" pitchFamily="34" charset="-122"/>
                <a:cs typeface="Marcellus" panose="020E0602050203020307" pitchFamily="34" charset="-120"/>
              </a:rPr>
              <a:t>Hardware Constraints</a:t>
            </a:r>
            <a:endParaRPr lang="en-US" sz="1400" dirty="0"/>
          </a:p>
        </p:txBody>
      </p:sp>
      <p:sp>
        <p:nvSpPr>
          <p:cNvPr id="23" name="Text 21"/>
          <p:cNvSpPr/>
          <p:nvPr/>
        </p:nvSpPr>
        <p:spPr>
          <a:xfrm>
            <a:off x="5192167" y="3367311"/>
            <a:ext cx="3455715" cy="302270"/>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67534F"/>
                </a:solidFill>
                <a:latin typeface="Montserrat" pitchFamily="34" charset="0"/>
                <a:ea typeface="Montserrat" pitchFamily="34" charset="-122"/>
                <a:cs typeface="Montserrat" pitchFamily="34" charset="-120"/>
              </a:rPr>
              <a:t>Leverage cloud compute resources for training-heavy phases if local GPU capacity proves insufficient</a:t>
            </a:r>
            <a:endParaRPr lang="en-US" sz="950" dirty="0"/>
          </a:p>
        </p:txBody>
      </p:sp>
      <p:sp>
        <p:nvSpPr>
          <p:cNvPr id="24" name="Shape 22"/>
          <p:cNvSpPr/>
          <p:nvPr/>
        </p:nvSpPr>
        <p:spPr>
          <a:xfrm>
            <a:off x="496119" y="4184824"/>
            <a:ext cx="8151763" cy="570309"/>
          </a:xfrm>
          <a:prstGeom prst="roundRect">
            <a:avLst>
              <a:gd name="adj" fmla="val 9135"/>
            </a:avLst>
          </a:prstGeom>
          <a:solidFill>
            <a:srgbClr val="FFE0CC"/>
          </a:solidFill>
        </p:spPr>
      </p:sp>
      <p:pic>
        <p:nvPicPr>
          <p:cNvPr id="25" name="Image 0" descr="preencoded.png"/>
          <p:cNvPicPr>
            <a:picLocks noChangeAspect="1"/>
          </p:cNvPicPr>
          <p:nvPr/>
        </p:nvPicPr>
        <p:blipFill>
          <a:blip r:embed="rId1"/>
          <a:stretch>
            <a:fillRect/>
          </a:stretch>
        </p:blipFill>
        <p:spPr>
          <a:xfrm>
            <a:off x="620092" y="4340796"/>
            <a:ext cx="155004" cy="123974"/>
          </a:xfrm>
          <a:prstGeom prst="rect">
            <a:avLst/>
          </a:prstGeom>
        </p:spPr>
      </p:pic>
      <p:sp>
        <p:nvSpPr>
          <p:cNvPr id="26" name="Text 23"/>
          <p:cNvSpPr/>
          <p:nvPr/>
        </p:nvSpPr>
        <p:spPr>
          <a:xfrm>
            <a:off x="899071" y="4324276"/>
            <a:ext cx="7624837" cy="302270"/>
          </a:xfrm>
          <a:prstGeom prst="rect">
            <a:avLst/>
          </a:prstGeom>
          <a:noFill/>
        </p:spPr>
        <p:txBody>
          <a:bodyPr wrap="square" lIns="0" tIns="0" rIns="0" bIns="0" rtlCol="0" anchor="t">
            <a:normAutofit/>
          </a:bodyPr>
          <a:lstStyle/>
          <a:p>
            <a:pPr marL="0" indent="0" algn="l">
              <a:lnSpc>
                <a:spcPct val="102000"/>
              </a:lnSpc>
              <a:buNone/>
            </a:pPr>
            <a:r>
              <a:rPr lang="en-US" sz="950" dirty="0">
                <a:solidFill>
                  <a:srgbClr val="000000"/>
                </a:solidFill>
                <a:latin typeface="Montserrat" pitchFamily="34" charset="0"/>
                <a:ea typeface="Montserrat" pitchFamily="34" charset="-122"/>
                <a:cs typeface="Montserrat" pitchFamily="34" charset="-120"/>
              </a:rPr>
              <a:t>Resilience is a design principle, not an afterthought — every risk has a structural mitigation built into the framework architecture.</a:t>
            </a:r>
            <a:endParaRPr lang="en-US" sz="950" dirty="0"/>
          </a:p>
        </p:txBody>
      </p:sp>
      <p:pic>
        <p:nvPicPr>
          <p:cNvPr id="27" name="Picture 26" descr="Screenshot 2026-08-05 192041"/>
          <p:cNvPicPr>
            <a:picLocks noChangeAspect="1"/>
          </p:cNvPicPr>
          <p:nvPr/>
        </p:nvPicPr>
        <p:blipFill>
          <a:blip r:embed="rId2"/>
          <a:stretch>
            <a:fillRect/>
          </a:stretch>
        </p:blipFill>
        <p:spPr>
          <a:xfrm>
            <a:off x="7520940" y="4789805"/>
            <a:ext cx="1623060" cy="2819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5288</Words>
  <Application>WPS Presentation</Application>
  <PresentationFormat>On-screen Show (16:9)</PresentationFormat>
  <Paragraphs>210</Paragraphs>
  <Slides>11</Slides>
  <Notes>11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vt:i4>
      </vt:variant>
    </vt:vector>
  </HeadingPairs>
  <TitlesOfParts>
    <vt:vector size="27" baseType="lpstr">
      <vt:lpstr>Arial</vt:lpstr>
      <vt:lpstr>SimSun</vt:lpstr>
      <vt:lpstr>Wingdings</vt:lpstr>
      <vt:lpstr>Marcellus</vt:lpstr>
      <vt:lpstr>Marcellus</vt:lpstr>
      <vt:lpstr>Marcellus</vt:lpstr>
      <vt:lpstr>Montserrat</vt:lpstr>
      <vt:lpstr>Montserrat</vt:lpstr>
      <vt:lpstr>Montserrat</vt:lpstr>
      <vt:lpstr>Montserrat Bold</vt:lpstr>
      <vt:lpstr>Montserrat Bold</vt:lpstr>
      <vt:lpstr>Montserrat Bold</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Sharmista Neravati</cp:lastModifiedBy>
  <cp:revision>3</cp:revision>
  <dcterms:created xsi:type="dcterms:W3CDTF">2026-08-05T13:54:00Z</dcterms:created>
  <dcterms:modified xsi:type="dcterms:W3CDTF">2026-08-05T15:54:40Z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9C7DA9212D564153B8CD90FB574E98B9_12</vt:lpwstr>
  </property>
  <property fmtid="{D5CDD505-2E9C-101B-9397-08002B2CF9AE}" pid="3" name="KSOProductBuildVer">
    <vt:lpwstr>1033-12.1.0.28032</vt:lpwstr>
  </property>
</Properties>
</file>